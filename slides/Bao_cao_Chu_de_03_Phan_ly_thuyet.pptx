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nSpc>
                <a:spcPct val="90000"/>
              </a:lnSpc>
            </a:pPr>
            <a:r>
              <a:rPr b="0" lang="en-US" sz="4400" spc="-1" strike="noStrike">
                <a:solidFill>
                  <a:schemeClr val="dk1"/>
                </a:solidFill>
                <a:latin typeface="Aptos"/>
              </a:rPr>
              <a:t>Click to move the slide</a:t>
            </a:r>
            <a:endParaRPr b="0" lang="en-US" sz="4400" spc="-1" strike="noStrike">
              <a:solidFill>
                <a:schemeClr val="dk1"/>
              </a:solidFill>
              <a:latin typeface="Aptos"/>
            </a:endParaRPr>
          </a:p>
        </p:txBody>
      </p:sp>
      <p:sp>
        <p:nvSpPr>
          <p:cNvPr id="1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15"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6"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7"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8"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9F4D7C2C-66B4-4415-9B4A-D08E4E729CE7}"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sldImg"/>
          </p:nvPr>
        </p:nvSpPr>
        <p:spPr>
          <a:xfrm>
            <a:off x="0" y="0"/>
            <a:ext cx="0" cy="0"/>
          </a:xfrm>
          <a:prstGeom prst="rect">
            <a:avLst/>
          </a:prstGeom>
          <a:ln w="0">
            <a:noFill/>
          </a:ln>
        </p:spPr>
      </p:sp>
      <p:sp>
        <p:nvSpPr>
          <p:cNvPr id="13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Giới thiệu chủ đề 03: Responsive và Adaptive UI trong Flutter. Phần trình bày này tập trung vào nền tảng lý thuyết.</a:t>
            </a:r>
            <a:endParaRPr b="0" lang="en-US" sz="2000" spc="-1" strike="noStrike">
              <a:solidFill>
                <a:srgbClr val="000000"/>
              </a:solidFill>
              <a:latin typeface="Arial"/>
            </a:endParaRPr>
          </a:p>
        </p:txBody>
      </p:sp>
      <p:sp>
        <p:nvSpPr>
          <p:cNvPr id="131"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sldImg"/>
          </p:nvPr>
        </p:nvSpPr>
        <p:spPr>
          <a:xfrm>
            <a:off x="0" y="0"/>
            <a:ext cx="0" cy="0"/>
          </a:xfrm>
          <a:prstGeom prst="rect">
            <a:avLst/>
          </a:prstGeom>
          <a:ln w="0">
            <a:noFill/>
          </a:ln>
        </p:spPr>
      </p:sp>
      <p:sp>
        <p:nvSpPr>
          <p:cNvPr id="13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Chiến trình bày nền tảng lý thuyết và phụ trách phần bố cục responsive. Cường phụ trách điều hướng adaptive và tích hợp giao diện. Phân công mã nguồn tham khảo tài liệu Chủ đề 03 của nhóm.</a:t>
            </a:r>
            <a:endParaRPr b="0" lang="en-US" sz="2000" spc="-1" strike="noStrike">
              <a:solidFill>
                <a:srgbClr val="000000"/>
              </a:solidFill>
              <a:latin typeface="Arial"/>
            </a:endParaRPr>
          </a:p>
        </p:txBody>
      </p:sp>
      <p:sp>
        <p:nvSpPr>
          <p:cNvPr id="134"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sldImg"/>
          </p:nvPr>
        </p:nvSpPr>
        <p:spPr>
          <a:xfrm>
            <a:off x="0" y="0"/>
            <a:ext cx="0" cy="0"/>
          </a:xfrm>
          <a:prstGeom prst="rect">
            <a:avLst/>
          </a:prstGeom>
          <a:ln w="0">
            <a:noFill/>
          </a:ln>
        </p:spPr>
      </p:sp>
      <p:sp>
        <p:nvSpPr>
          <p:cNvPr id="13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Phần lý thuyết đi từ khái niệm, công cụ đo và lựa chọn bố cục đến các widget và nguyên tắc sử dụng.</a:t>
            </a:r>
            <a:endParaRPr b="0" lang="en-US" sz="2000" spc="-1" strike="noStrike">
              <a:solidFill>
                <a:srgbClr val="000000"/>
              </a:solidFill>
              <a:latin typeface="Arial"/>
            </a:endParaRPr>
          </a:p>
        </p:txBody>
      </p:sp>
      <p:sp>
        <p:nvSpPr>
          <p:cNvPr id="137" name="PlaceHolder 3"/>
          <p:cNvSpPr>
            <a:spLocks noGrp="1"/>
          </p:cNvSpPr>
          <p:nvPr>
            <p:ph type="sldNum" idx="6"/>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sldImg"/>
          </p:nvPr>
        </p:nvSpPr>
        <p:spPr>
          <a:xfrm>
            <a:off x="0" y="0"/>
            <a:ext cx="0" cy="0"/>
          </a:xfrm>
          <a:prstGeom prst="rect">
            <a:avLst/>
          </a:prstGeom>
          <a:ln w="0">
            <a:noFill/>
          </a:ln>
        </p:spPr>
      </p:sp>
      <p:sp>
        <p:nvSpPr>
          <p:cNvPr id="13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Responsive UI tập trung vào việc sắp xếp nội dung để vừa không gian được cấp. Khi không gian thay đổi, bố cục có thể co giãn hoặc chuyển số cột. Minh họa bằng ví dụ lý thuyết: cùng một danh sách hiển thị một cột trong vùng hẹp và nhiều cột khi đủ rộng.</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Nguồn: https://docs.flutter.dev/ui/adaptive-responsive</a:t>
            </a:r>
            <a:endParaRPr b="0" lang="en-US" sz="2000" spc="-1" strike="noStrike">
              <a:solidFill>
                <a:srgbClr val="000000"/>
              </a:solidFill>
              <a:latin typeface="Arial"/>
            </a:endParaRPr>
          </a:p>
        </p:txBody>
      </p:sp>
      <p:sp>
        <p:nvSpPr>
          <p:cNvPr id="140"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sldImg"/>
          </p:nvPr>
        </p:nvSpPr>
        <p:spPr>
          <a:xfrm>
            <a:off x="0" y="0"/>
            <a:ext cx="0" cy="0"/>
          </a:xfrm>
          <a:prstGeom prst="rect">
            <a:avLst/>
          </a:prstGeom>
          <a:ln w="0">
            <a:noFill/>
          </a:ln>
        </p:spPr>
      </p:sp>
      <p:sp>
        <p:nvSpPr>
          <p:cNvPr id="14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Adaptive UI tập trung vào khả năng sử dụng trong từng điều kiện. Ngoài không gian hiển thị, cần xét cách người dùng nhập liệu. Ví dụ lý thuyết: thay thanh điều hướng phía dưới bằng thanh bên khi không gian cho phép, đồng thời giữ cùng ý nghĩa điều hướng.</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Nguồn: https://docs.flutter.dev/ui/adaptive-responsive</a:t>
            </a:r>
            <a:endParaRPr b="0" lang="en-US" sz="2000" spc="-1" strike="noStrike">
              <a:solidFill>
                <a:srgbClr val="000000"/>
              </a:solidFill>
              <a:latin typeface="Arial"/>
            </a:endParaRPr>
          </a:p>
        </p:txBody>
      </p:sp>
      <p:sp>
        <p:nvSpPr>
          <p:cNvPr id="143"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sldImg"/>
          </p:nvPr>
        </p:nvSpPr>
        <p:spPr>
          <a:xfrm>
            <a:off x="0" y="0"/>
            <a:ext cx="0" cy="0"/>
          </a:xfrm>
          <a:prstGeom prst="rect">
            <a:avLst/>
          </a:prstGeom>
          <a:ln w="0">
            <a:noFill/>
          </a:ln>
        </p:spPr>
      </p:sp>
      <p:sp>
        <p:nvSpPr>
          <p:cNvPr id="14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Hai khái niệm bổ sung cho nhau. Một ứng dụng có thể vừa đổi số cột để vừa chỗ, vừa đổi widget điều hướng để phù hợp thao tác. Không nên trình bày hai khái niệm như hai lựa chọn loại trừ nhau.</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Nguồn: https://docs.flutter.dev/ui/adaptive-responsive</a:t>
            </a:r>
            <a:endParaRPr b="0" lang="en-US" sz="2000" spc="-1" strike="noStrike">
              <a:solidFill>
                <a:srgbClr val="000000"/>
              </a:solidFill>
              <a:latin typeface="Arial"/>
            </a:endParaRPr>
          </a:p>
        </p:txBody>
      </p:sp>
      <p:sp>
        <p:nvSpPr>
          <p:cNvPr id="146" name="PlaceHolder 3"/>
          <p:cNvSpPr>
            <a:spLocks noGrp="1"/>
          </p:cNvSpPr>
          <p:nvPr>
            <p:ph type="sldNum" idx="9"/>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sldImg"/>
          </p:nvPr>
        </p:nvSpPr>
        <p:spPr>
          <a:xfrm>
            <a:off x="0" y="0"/>
            <a:ext cx="0" cy="0"/>
          </a:xfrm>
          <a:prstGeom prst="rect">
            <a:avLst/>
          </a:prstGeom>
          <a:ln w="0">
            <a:noFill/>
          </a:ln>
        </p:spPr>
      </p:sp>
      <p:sp>
        <p:nvSpPr>
          <p:cNvPr id="14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MediaQuery cung cấp thông tin môi trường của view qua context. sizeOf trả kích thước view hiện tại theo logical pixels, thường là cửa sổ ứng dụng. paddingOf và viewInsetsOf cung cấp thông tin vùng an toàn và vùng bị che. Ví dụ cú pháp trên slide phục vụ phần lý thuyết.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Nguồn: https://api.flutter.dev/flutter/widgets/MediaQuery-class.html</a:t>
            </a:r>
            <a:endParaRPr b="0" lang="en-US" sz="2000" spc="-1" strike="noStrike">
              <a:solidFill>
                <a:srgbClr val="000000"/>
              </a:solidFill>
              <a:latin typeface="Arial"/>
            </a:endParaRPr>
          </a:p>
        </p:txBody>
      </p:sp>
      <p:sp>
        <p:nvSpPr>
          <p:cNvPr id="149"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sldImg"/>
          </p:nvPr>
        </p:nvSpPr>
        <p:spPr>
          <a:xfrm>
            <a:off x="0" y="0"/>
            <a:ext cx="0" cy="0"/>
          </a:xfrm>
          <a:prstGeom prst="rect">
            <a:avLst/>
          </a:prstGeom>
          <a:ln w="0">
            <a:noFill/>
          </a:ln>
        </p:spPr>
      </p:sp>
      <p:sp>
        <p:nvSpPr>
          <p:cNvPr id="15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LayoutBuilder gọi builder với BoxConstraints từ widget cha. maxWidth là chiều rộng tối đa được cấp tại vị trí đó. Khi ràng buộc thay đổi, widget có thể dựng lại bố cục. Ví dụ chọn số cột theo chiều rộng cục bộ hữu hạn, thay vì suy ra theo tên loại thiết bị.</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Nguồn: https://api.flutter.dev/flutter/widgets/LayoutBuilder-class.html</a:t>
            </a:r>
            <a:endParaRPr b="0" lang="en-US" sz="2000" spc="-1" strike="noStrike">
              <a:solidFill>
                <a:srgbClr val="000000"/>
              </a:solidFill>
              <a:latin typeface="Arial"/>
            </a:endParaRPr>
          </a:p>
        </p:txBody>
      </p:sp>
      <p:sp>
        <p:nvSpPr>
          <p:cNvPr id="152"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sldImg"/>
          </p:nvPr>
        </p:nvSpPr>
        <p:spPr>
          <a:xfrm>
            <a:off x="0" y="0"/>
            <a:ext cx="0" cy="0"/>
          </a:xfrm>
          <a:prstGeom prst="rect">
            <a:avLst/>
          </a:prstGeom>
          <a:ln w="0">
            <a:noFill/>
          </a:ln>
        </p:spPr>
      </p:sp>
      <p:sp>
        <p:nvSpPr>
          <p:cNvPr id="15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MediaQuery.sizeOf cung cấp kích thước view. LayoutBuilder cung cấp BoxConstraints tại vị trí widget. Vùng nội dung có thể hẹp hơn cửa sổ vì widget cha còn dành chỗ cho điều hướng và khoảng đệm. Vì vậy cần chọn đúng phạm vi đo khi quyết định bố cục.</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Nguồn: https://docs.flutter.dev/ui/adaptive-responsive/general</a:t>
            </a:r>
            <a:endParaRPr b="0" lang="en-US" sz="2000" spc="-1" strike="noStrike">
              <a:solidFill>
                <a:srgbClr val="000000"/>
              </a:solidFill>
              <a:latin typeface="Arial"/>
            </a:endParaRPr>
          </a:p>
        </p:txBody>
      </p:sp>
      <p:sp>
        <p:nvSpPr>
          <p:cNvPr id="155"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0" y="0"/>
            <a:ext cx="0" cy="0"/>
          </a:xfrm>
          <a:prstGeom prst="rect">
            <a:avLst/>
          </a:prstGeom>
          <a:ln w="0">
            <a:noFill/>
          </a:ln>
        </p:spPr>
      </p:sp>
      <p:sp>
        <p:nvSpPr>
          <p:cNvPr id="15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Breakpoint là ngưỡng đổi quyết định bố cục. Các số 600 và 900 là ngưỡng minh họa, không phải quy tắc bắt buộc cho mọi ứng dụng. Khi xét điều hướng, đo cửa sổ. Khi xét số cột, đo vùng nội dung tương ứng. Các ngưỡng cần phù hợp độ rộng nội dung tối thiểu và nên thử tại hai phía ranh giới.</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Nguồn: https://docs.flutter.dev/ui/adaptive-responsive/general</a:t>
            </a:r>
            <a:endParaRPr b="0" lang="en-US" sz="2000" spc="-1" strike="noStrike">
              <a:solidFill>
                <a:srgbClr val="000000"/>
              </a:solidFill>
              <a:latin typeface="Arial"/>
            </a:endParaRPr>
          </a:p>
        </p:txBody>
      </p:sp>
      <p:sp>
        <p:nvSpPr>
          <p:cNvPr id="158"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0" y="0"/>
            <a:ext cx="0" cy="0"/>
          </a:xfrm>
          <a:prstGeom prst="rect">
            <a:avLst/>
          </a:prstGeom>
          <a:ln w="0">
            <a:noFill/>
          </a:ln>
        </p:spPr>
      </p:sp>
      <p:sp>
        <p:nvSpPr>
          <p:cNvPr id="16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Row sắp xếp theo chiều ngang, Column theo chiều dọc. Trong Row hoặc Column có ràng buộc phù hợp, Expanded yêu cầu con lấp phần không gian được chia, Flexible cho phép con dùng ít hơn giới hạn được chia với fit mặc định loose. Ví dụ tên công việc nhận phần chiều rộng còn lại, icon giữ kích thước tự nhiên.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Nguồn: https://api.flutter.dev/flutter/widgets/Row-class.html</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Nguồn: https://api.flutter.dev/flutter/widgets/Expanded-class.html</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Nguồn: https://api.flutter.dev/flutter/widgets/Flexible-class.html</a:t>
            </a:r>
            <a:endParaRPr b="0" lang="en-US" sz="2000" spc="-1" strike="noStrike">
              <a:solidFill>
                <a:srgbClr val="000000"/>
              </a:solidFill>
              <a:latin typeface="Arial"/>
            </a:endParaRPr>
          </a:p>
        </p:txBody>
      </p:sp>
      <p:sp>
        <p:nvSpPr>
          <p:cNvPr id="161"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0" y="0"/>
            <a:ext cx="0" cy="0"/>
          </a:xfrm>
          <a:prstGeom prst="rect">
            <a:avLst/>
          </a:prstGeom>
          <a:ln w="0">
            <a:noFill/>
          </a:ln>
        </p:spPr>
      </p:sp>
      <p:sp>
        <p:nvSpPr>
          <p:cNvPr id="16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GridView hiển thị tập widget thành lưới. Với GridView.count, crossAxisCount quyết định số cột khi cuộn dọc. Trong ví dụ, columns là số cột đã chọn từ chiều rộng khả dụng và items là danh sách widget. Ví dụ mô tả một lưới độc lập. Khi lồng trong một vùng cuộn khác, cần cân nhắc ràng buộc kích thước và cách cuộn.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Nguồn: https://api.flutter.dev/flutter/widgets/GridView-class.html</a:t>
            </a:r>
            <a:endParaRPr b="0" lang="en-US" sz="2000" spc="-1" strike="noStrike">
              <a:solidFill>
                <a:srgbClr val="000000"/>
              </a:solidFill>
              <a:latin typeface="Arial"/>
            </a:endParaRPr>
          </a:p>
        </p:txBody>
      </p:sp>
      <p:sp>
        <p:nvSpPr>
          <p:cNvPr id="164" name="PlaceHolder 3"/>
          <p:cNvSpPr>
            <a:spLocks noGrp="1"/>
          </p:cNvSpPr>
          <p:nvPr>
            <p:ph type="sldNum" idx="15"/>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sldImg"/>
          </p:nvPr>
        </p:nvSpPr>
        <p:spPr>
          <a:xfrm>
            <a:off x="0" y="0"/>
            <a:ext cx="0" cy="0"/>
          </a:xfrm>
          <a:prstGeom prst="rect">
            <a:avLst/>
          </a:prstGeom>
          <a:ln w="0">
            <a:noFill/>
          </a:ln>
        </p:spPr>
      </p:sp>
      <p:sp>
        <p:nvSpPr>
          <p:cNvPr id="16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NavigationBar trình bày các đích điều hướng ở phía dưới. NavigationRail trình bày chúng bên trái hoặc phải, extended mở rộng nhãn bên cạnh icon. Dùng chung danh sách đích, selectedIndex và callback giúp giữ cùng ý nghĩa điều hướng khi thay widget. Ngưỡng chọn cụ thể do ứng dụng quyết định.</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Nguồn: https://api.flutter.dev/flutter/material/NavigationRail-class.html</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Nguồn: https://api.flutter.dev/flutter/material/NavigationBar-class.html</a:t>
            </a:r>
            <a:endParaRPr b="0" lang="en-US" sz="2000" spc="-1" strike="noStrike">
              <a:solidFill>
                <a:srgbClr val="000000"/>
              </a:solidFill>
              <a:latin typeface="Arial"/>
            </a:endParaRPr>
          </a:p>
        </p:txBody>
      </p:sp>
      <p:sp>
        <p:nvSpPr>
          <p:cNvPr id="167" name="PlaceHolder 3"/>
          <p:cNvSpPr>
            <a:spLocks noGrp="1"/>
          </p:cNvSpPr>
          <p:nvPr>
            <p:ph type="sldNum" idx="16"/>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0" y="0"/>
            <a:ext cx="0" cy="0"/>
          </a:xfrm>
          <a:prstGeom prst="rect">
            <a:avLst/>
          </a:prstGeom>
          <a:ln w="0">
            <a:noFill/>
          </a:ln>
        </p:spPr>
      </p:sp>
      <p:sp>
        <p:nvSpPr>
          <p:cNvPr id="16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Chọn bố cục theo vùng được cấp, tránh suy luận đơn thuần từ thiết bị hoặc chiều dọc/ngang. Giới hạn độ rộng nội dung trên cửa sổ lớn. Kiểm tra văn bản khi tăng cỡ chữ và tránh chiều cao cố định quá nhỏ. Khi đổi bố cục, giữ mục đang chọn, dữ liệu nhập và vị trí cuộn khi thích hợp.</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Nguồn: https://docs.flutter.dev/ui/adaptive-responsive/best-practices</a:t>
            </a:r>
            <a:endParaRPr b="0" lang="en-US" sz="2000" spc="-1" strike="noStrike">
              <a:solidFill>
                <a:srgbClr val="000000"/>
              </a:solidFill>
              <a:latin typeface="Arial"/>
            </a:endParaRPr>
          </a:p>
        </p:txBody>
      </p:sp>
      <p:sp>
        <p:nvSpPr>
          <p:cNvPr id="170" name="PlaceHolder 3"/>
          <p:cNvSpPr>
            <a:spLocks noGrp="1"/>
          </p:cNvSpPr>
          <p:nvPr>
            <p:ph type="sldNum" idx="17"/>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0" y="0"/>
            <a:ext cx="0" cy="0"/>
          </a:xfrm>
          <a:prstGeom prst="rect">
            <a:avLst/>
          </a:prstGeom>
          <a:ln w="0">
            <a:noFill/>
          </a:ln>
        </p:spPr>
      </p:sp>
      <p:sp>
        <p:nvSpPr>
          <p:cNvPr id="17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Adaptive UI cần hỗ trợ cách thao tác quen thuộc của mỗi phương thức. Với cảm ứng, vùng chạm đủ dễ dùng. Với chuột, hỗ trợ cuộn, phản hồi hover và tooltip khi phù hợp. Với bàn phím, kiểm tra thứ tự Tab và trạng thái focus, khả năng kích hoạt điều khiển. Nhiều widget Material đã hỗ trợ sẵn một phần tương tác nhưng widget tùy biến cần kiểm tra riêng.</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Nguồn: https://docs.flutter.dev/ui/adaptive-responsive/input</a:t>
            </a:r>
            <a:endParaRPr b="0" lang="en-US" sz="2000" spc="-1" strike="noStrike">
              <a:solidFill>
                <a:srgbClr val="000000"/>
              </a:solidFill>
              <a:latin typeface="Arial"/>
            </a:endParaRPr>
          </a:p>
        </p:txBody>
      </p:sp>
      <p:sp>
        <p:nvSpPr>
          <p:cNvPr id="173" name="PlaceHolder 3"/>
          <p:cNvSpPr>
            <a:spLocks noGrp="1"/>
          </p:cNvSpPr>
          <p:nvPr>
            <p:ph type="sldNum" idx="18"/>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sldImg"/>
          </p:nvPr>
        </p:nvSpPr>
        <p:spPr>
          <a:xfrm>
            <a:off x="0" y="0"/>
            <a:ext cx="0" cy="0"/>
          </a:xfrm>
          <a:prstGeom prst="rect">
            <a:avLst/>
          </a:prstGeom>
          <a:ln w="0">
            <a:noFill/>
          </a:ln>
        </p:spPr>
      </p:sp>
      <p:sp>
        <p:nvSpPr>
          <p:cNvPr id="17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a:lnSpc>
                <a:spcPct val="100000"/>
              </a:lnSpc>
              <a:buNone/>
            </a:pPr>
            <a:r>
              <a:rPr b="0" lang="en-US" sz="2000" spc="-1" strike="noStrike">
                <a:solidFill>
                  <a:srgbClr val="000000"/>
                </a:solidFill>
                <a:latin typeface="Arial"/>
              </a:rPr>
              <a:t>Tài liệu chính thức Flutter, đối chiếu ngày 01/11/2026. Ví dụ code trên slide dùng cho phần lý thuyết. Các nguồn API cụ thể nằm trong ghi chú từng slide.</a:t>
            </a:r>
            <a:endParaRPr b="0" lang="en-US" sz="2000" spc="-1" strike="noStrike">
              <a:solidFill>
                <a:srgbClr val="000000"/>
              </a:solidFill>
              <a:latin typeface="Arial"/>
            </a:endParaRPr>
          </a:p>
        </p:txBody>
      </p:sp>
      <p:sp>
        <p:nvSpPr>
          <p:cNvPr id="176" name="PlaceHolder 3"/>
          <p:cNvSpPr>
            <a:spLocks noGrp="1"/>
          </p:cNvSpPr>
          <p:nvPr>
            <p:ph type="sldNum" idx="19"/>
          </p:nvPr>
        </p:nvSpPr>
        <p:spPr>
          <a:xfrm>
            <a:off x="0" y="0"/>
            <a:ext cx="0" cy="0"/>
          </a:xfrm>
          <a:prstGeom prst="rect">
            <a:avLst/>
          </a:prstGeom>
          <a:noFill/>
          <a:ln w="0">
            <a:noFill/>
          </a:ln>
        </p:spPr>
        <p:txBody>
          <a:bodyPr lIns="90000" rIns="90000" tIns="-45000" bIns="-45000" anchor="t">
            <a:noAutofit/>
          </a:bodyPr>
          <a:p>
            <a:pPr indent="0">
              <a:buNone/>
            </a:pPr>
            <a:endParaRPr b="0" lang="en-US" sz="18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wo Column">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nSpc>
                <a:spcPct val="90000"/>
              </a:lnSpc>
              <a:buNone/>
            </a:pPr>
            <a:endParaRPr b="0" lang="en-US" sz="4400" spc="-1" strike="noStrike">
              <a:solidFill>
                <a:schemeClr val="dk1"/>
              </a:solidFill>
              <a:latin typeface="Aptos"/>
            </a:endParaRPr>
          </a:p>
        </p:txBody>
      </p:sp>
      <p:sp>
        <p:nvSpPr>
          <p:cNvPr id="10"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One Column">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219320" y="2857680"/>
            <a:ext cx="9753120" cy="1142640"/>
          </a:xfrm>
          <a:prstGeom prst="rect">
            <a:avLst/>
          </a:prstGeom>
          <a:noFill/>
          <a:ln w="0">
            <a:noFill/>
          </a:ln>
        </p:spPr>
        <p:txBody>
          <a:bodyPr lIns="0" rIns="0" tIns="0" bIns="0" anchor="ctr">
            <a:normAutofit/>
          </a:bodyPr>
          <a:p>
            <a:pPr indent="0">
              <a:lnSpc>
                <a:spcPct val="90000"/>
              </a:lnSpc>
              <a:buNone/>
            </a:pPr>
            <a:r>
              <a:rPr b="0" lang="en-US" sz="4200" spc="-1" strike="noStrike">
                <a:solidFill>
                  <a:schemeClr val="dk1"/>
                </a:solidFill>
                <a:latin typeface="Aptos"/>
              </a:rPr>
              <a:t>Click to edit the title text format</a:t>
            </a:r>
            <a:endParaRPr b="0" lang="en-US" sz="42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nSpc>
                <a:spcPct val="90000"/>
              </a:lnSpc>
              <a:buNone/>
            </a:pPr>
            <a:r>
              <a:rPr b="0" lang="en-US" sz="4400" spc="-1" strike="noStrike">
                <a:solidFill>
                  <a:schemeClr val="dk1"/>
                </a:solidFill>
                <a:latin typeface="Aptos"/>
              </a:rPr>
              <a:t>Click to edit the title text format</a:t>
            </a:r>
            <a:endParaRPr b="0" lang="en-US" sz="4400" spc="-1" strike="noStrike">
              <a:solidFill>
                <a:schemeClr val="dk1"/>
              </a:solidFill>
              <a:latin typeface="Aptos"/>
            </a:endParaRPr>
          </a:p>
        </p:txBody>
      </p:sp>
      <p:sp>
        <p:nvSpPr>
          <p:cNvPr id="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Aptos"/>
              </a:rPr>
              <a:t>Click to edit the outline text format</a:t>
            </a:r>
            <a:endParaRPr b="0" lang="en-US" sz="2800" spc="-1" strike="noStrike">
              <a:solidFill>
                <a:schemeClr val="dk1"/>
              </a:solidFill>
              <a:latin typeface="Aptos"/>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Aptos"/>
              </a:rPr>
              <a:t>Second Outline Level</a:t>
            </a:r>
            <a:endParaRPr b="0" lang="en-US" sz="2000" spc="-1" strike="noStrike">
              <a:solidFill>
                <a:schemeClr val="dk1"/>
              </a:solidFill>
              <a:latin typeface="Aptos"/>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Aptos"/>
              </a:rPr>
              <a:t>Third Outline Level</a:t>
            </a:r>
            <a:endParaRPr b="0" lang="en-US" sz="1800" spc="-1" strike="noStrike">
              <a:solidFill>
                <a:schemeClr val="dk1"/>
              </a:solidFill>
              <a:latin typeface="Aptos"/>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Aptos"/>
              </a:rPr>
              <a:t>Fourth Outline Level</a:t>
            </a:r>
            <a:endParaRPr b="0" lang="en-US" sz="1800" spc="-1" strike="noStrike">
              <a:solidFill>
                <a:schemeClr val="dk1"/>
              </a:solidFill>
              <a:latin typeface="Aptos"/>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ptos"/>
              </a:rPr>
              <a:t>Fifth Outline Level</a:t>
            </a:r>
            <a:endParaRPr b="0" lang="en-US" sz="2000" spc="-1" strike="noStrike">
              <a:solidFill>
                <a:schemeClr val="dk1"/>
              </a:solidFill>
              <a:latin typeface="Aptos"/>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ptos"/>
              </a:rPr>
              <a:t>Sixth Outline Level</a:t>
            </a:r>
            <a:endParaRPr b="0" lang="en-US" sz="2000" spc="-1" strike="noStrike">
              <a:solidFill>
                <a:schemeClr val="dk1"/>
              </a:solidFill>
              <a:latin typeface="Aptos"/>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ptos"/>
              </a:rPr>
              <a:t>Seventh Outline Level</a:t>
            </a:r>
            <a:endParaRPr b="0" lang="en-US" sz="20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685800" y="533520"/>
            <a:ext cx="10820160" cy="837720"/>
          </a:xfrm>
          <a:prstGeom prst="rect">
            <a:avLst/>
          </a:prstGeom>
          <a:noFill/>
          <a:ln w="0">
            <a:noFill/>
          </a:ln>
        </p:spPr>
        <p:txBody>
          <a:bodyPr lIns="0" rIns="0" tIns="0" bIns="0" anchor="t">
            <a:normAutofit/>
          </a:bodyPr>
          <a:p>
            <a:pPr indent="0">
              <a:lnSpc>
                <a:spcPct val="90000"/>
              </a:lnSpc>
              <a:buNone/>
            </a:pPr>
            <a:r>
              <a:rPr b="0" lang="en-US" sz="3300" spc="-1" strike="noStrike">
                <a:solidFill>
                  <a:schemeClr val="dk1"/>
                </a:solidFill>
                <a:latin typeface="Aptos"/>
              </a:rPr>
              <a:t>Cli</a:t>
            </a:r>
            <a:r>
              <a:rPr b="0" lang="en-US" sz="3300" spc="-1" strike="noStrike">
                <a:solidFill>
                  <a:schemeClr val="dk1"/>
                </a:solidFill>
                <a:latin typeface="Aptos"/>
              </a:rPr>
              <a:t>ck </a:t>
            </a:r>
            <a:r>
              <a:rPr b="0" lang="en-US" sz="3300" spc="-1" strike="noStrike">
                <a:solidFill>
                  <a:schemeClr val="dk1"/>
                </a:solidFill>
                <a:latin typeface="Aptos"/>
              </a:rPr>
              <a:t>to </a:t>
            </a:r>
            <a:r>
              <a:rPr b="0" lang="en-US" sz="3300" spc="-1" strike="noStrike">
                <a:solidFill>
                  <a:schemeClr val="dk1"/>
                </a:solidFill>
                <a:latin typeface="Aptos"/>
              </a:rPr>
              <a:t>ed</a:t>
            </a:r>
            <a:r>
              <a:rPr b="0" lang="en-US" sz="3300" spc="-1" strike="noStrike">
                <a:solidFill>
                  <a:schemeClr val="dk1"/>
                </a:solidFill>
                <a:latin typeface="Aptos"/>
              </a:rPr>
              <a:t>it </a:t>
            </a:r>
            <a:r>
              <a:rPr b="0" lang="en-US" sz="3300" spc="-1" strike="noStrike">
                <a:solidFill>
                  <a:schemeClr val="dk1"/>
                </a:solidFill>
                <a:latin typeface="Aptos"/>
              </a:rPr>
              <a:t>th</a:t>
            </a:r>
            <a:r>
              <a:rPr b="0" lang="en-US" sz="3300" spc="-1" strike="noStrike">
                <a:solidFill>
                  <a:schemeClr val="dk1"/>
                </a:solidFill>
                <a:latin typeface="Aptos"/>
              </a:rPr>
              <a:t>e </a:t>
            </a:r>
            <a:r>
              <a:rPr b="0" lang="en-US" sz="3300" spc="-1" strike="noStrike">
                <a:solidFill>
                  <a:schemeClr val="dk1"/>
                </a:solidFill>
                <a:latin typeface="Aptos"/>
              </a:rPr>
              <a:t>titl</a:t>
            </a:r>
            <a:r>
              <a:rPr b="0" lang="en-US" sz="3300" spc="-1" strike="noStrike">
                <a:solidFill>
                  <a:schemeClr val="dk1"/>
                </a:solidFill>
                <a:latin typeface="Aptos"/>
              </a:rPr>
              <a:t>e </a:t>
            </a:r>
            <a:r>
              <a:rPr b="0" lang="en-US" sz="3300" spc="-1" strike="noStrike">
                <a:solidFill>
                  <a:schemeClr val="dk1"/>
                </a:solidFill>
                <a:latin typeface="Aptos"/>
              </a:rPr>
              <a:t>te</a:t>
            </a:r>
            <a:r>
              <a:rPr b="0" lang="en-US" sz="3300" spc="-1" strike="noStrike">
                <a:solidFill>
                  <a:schemeClr val="dk1"/>
                </a:solidFill>
                <a:latin typeface="Aptos"/>
              </a:rPr>
              <a:t>xt </a:t>
            </a:r>
            <a:r>
              <a:rPr b="0" lang="en-US" sz="3300" spc="-1" strike="noStrike">
                <a:solidFill>
                  <a:schemeClr val="dk1"/>
                </a:solidFill>
                <a:latin typeface="Aptos"/>
              </a:rPr>
              <a:t>fo</a:t>
            </a:r>
            <a:r>
              <a:rPr b="0" lang="en-US" sz="3300" spc="-1" strike="noStrike">
                <a:solidFill>
                  <a:schemeClr val="dk1"/>
                </a:solidFill>
                <a:latin typeface="Aptos"/>
              </a:rPr>
              <a:t>r</a:t>
            </a:r>
            <a:r>
              <a:rPr b="0" lang="en-US" sz="3300" spc="-1" strike="noStrike">
                <a:solidFill>
                  <a:schemeClr val="dk1"/>
                </a:solidFill>
                <a:latin typeface="Aptos"/>
              </a:rPr>
              <a:t>m</a:t>
            </a:r>
            <a:r>
              <a:rPr b="0" lang="en-US" sz="3300" spc="-1" strike="noStrike">
                <a:solidFill>
                  <a:schemeClr val="dk1"/>
                </a:solidFill>
                <a:latin typeface="Aptos"/>
              </a:rPr>
              <a:t>at</a:t>
            </a:r>
            <a:endParaRPr b="0" lang="en-US" sz="3300" spc="-1" strike="noStrike">
              <a:solidFill>
                <a:schemeClr val="dk1"/>
              </a:solidFill>
              <a:latin typeface="Aptos"/>
            </a:endParaRPr>
          </a:p>
        </p:txBody>
      </p:sp>
      <p:sp>
        <p:nvSpPr>
          <p:cNvPr id="4" name="PlaceHolder 2"/>
          <p:cNvSpPr>
            <a:spLocks noGrp="1"/>
          </p:cNvSpPr>
          <p:nvPr>
            <p:ph type="body"/>
          </p:nvPr>
        </p:nvSpPr>
        <p:spPr>
          <a:xfrm>
            <a:off x="685800" y="1905120"/>
            <a:ext cx="10820160" cy="42667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250" spc="-1" strike="noStrike">
                <a:solidFill>
                  <a:schemeClr val="dk1"/>
                </a:solidFill>
                <a:latin typeface="Aptos"/>
              </a:rPr>
              <a:t>Click to edit the outline text format</a:t>
            </a:r>
            <a:endParaRPr b="0" lang="en-US" sz="2250" spc="-1" strike="noStrike">
              <a:solidFill>
                <a:schemeClr val="dk1"/>
              </a:solidFill>
              <a:latin typeface="Aptos"/>
            </a:endParaRPr>
          </a:p>
          <a:p>
            <a:pPr lvl="1" marL="864000" indent="-324000">
              <a:lnSpc>
                <a:spcPct val="90000"/>
              </a:lnSpc>
              <a:spcBef>
                <a:spcPts val="1134"/>
              </a:spcBef>
              <a:buClr>
                <a:srgbClr val="000000"/>
              </a:buClr>
              <a:buSzPct val="75000"/>
              <a:buFont typeface="Symbol" charset="2"/>
              <a:buChar char=""/>
            </a:pPr>
            <a:r>
              <a:rPr b="0" lang="en-US" sz="2250" spc="-1" strike="noStrike">
                <a:solidFill>
                  <a:schemeClr val="dk1"/>
                </a:solidFill>
                <a:latin typeface="Aptos"/>
              </a:rPr>
              <a:t>Second Outline Level</a:t>
            </a:r>
            <a:endParaRPr b="0" lang="en-US" sz="2250" spc="-1" strike="noStrike">
              <a:solidFill>
                <a:schemeClr val="dk1"/>
              </a:solidFill>
              <a:latin typeface="Aptos"/>
            </a:endParaRPr>
          </a:p>
          <a:p>
            <a:pPr lvl="2" marL="1296000" indent="-288000">
              <a:lnSpc>
                <a:spcPct val="90000"/>
              </a:lnSpc>
              <a:spcBef>
                <a:spcPts val="850"/>
              </a:spcBef>
              <a:buClr>
                <a:srgbClr val="000000"/>
              </a:buClr>
              <a:buSzPct val="45000"/>
              <a:buFont typeface="Wingdings" charset="2"/>
              <a:buChar char=""/>
            </a:pPr>
            <a:r>
              <a:rPr b="0" lang="en-US" sz="2250" spc="-1" strike="noStrike">
                <a:solidFill>
                  <a:schemeClr val="dk1"/>
                </a:solidFill>
                <a:latin typeface="Aptos"/>
              </a:rPr>
              <a:t>Third Outline Level</a:t>
            </a:r>
            <a:endParaRPr b="0" lang="en-US" sz="2250" spc="-1" strike="noStrike">
              <a:solidFill>
                <a:schemeClr val="dk1"/>
              </a:solidFill>
              <a:latin typeface="Aptos"/>
            </a:endParaRPr>
          </a:p>
          <a:p>
            <a:pPr lvl="3" marL="1728000" indent="-216000">
              <a:lnSpc>
                <a:spcPct val="90000"/>
              </a:lnSpc>
              <a:spcBef>
                <a:spcPts val="567"/>
              </a:spcBef>
              <a:buClr>
                <a:srgbClr val="000000"/>
              </a:buClr>
              <a:buSzPct val="75000"/>
              <a:buFont typeface="Symbol" charset="2"/>
              <a:buChar char=""/>
            </a:pPr>
            <a:r>
              <a:rPr b="0" lang="en-US" sz="2250" spc="-1" strike="noStrike">
                <a:solidFill>
                  <a:schemeClr val="dk1"/>
                </a:solidFill>
                <a:latin typeface="Aptos"/>
              </a:rPr>
              <a:t>Fourth Outline Level</a:t>
            </a:r>
            <a:endParaRPr b="0" lang="en-US" sz="2250" spc="-1" strike="noStrike">
              <a:solidFill>
                <a:schemeClr val="dk1"/>
              </a:solidFill>
              <a:latin typeface="Aptos"/>
            </a:endParaRPr>
          </a:p>
          <a:p>
            <a:pPr lvl="4" marL="2160000" indent="-216000">
              <a:lnSpc>
                <a:spcPct val="90000"/>
              </a:lnSpc>
              <a:spcBef>
                <a:spcPts val="283"/>
              </a:spcBef>
              <a:buClr>
                <a:srgbClr val="000000"/>
              </a:buClr>
              <a:buSzPct val="45000"/>
              <a:buFont typeface="Wingdings" charset="2"/>
              <a:buChar char=""/>
            </a:pPr>
            <a:r>
              <a:rPr b="0" lang="en-US" sz="2250" spc="-1" strike="noStrike">
                <a:solidFill>
                  <a:schemeClr val="dk1"/>
                </a:solidFill>
                <a:latin typeface="Aptos"/>
              </a:rPr>
              <a:t>Fifth Outline Level</a:t>
            </a:r>
            <a:endParaRPr b="0" lang="en-US" sz="2250" spc="-1" strike="noStrike">
              <a:solidFill>
                <a:schemeClr val="dk1"/>
              </a:solidFill>
              <a:latin typeface="Aptos"/>
            </a:endParaRPr>
          </a:p>
          <a:p>
            <a:pPr lvl="5" marL="2592000" indent="-216000">
              <a:lnSpc>
                <a:spcPct val="90000"/>
              </a:lnSpc>
              <a:spcBef>
                <a:spcPts val="283"/>
              </a:spcBef>
              <a:buClr>
                <a:srgbClr val="000000"/>
              </a:buClr>
              <a:buSzPct val="45000"/>
              <a:buFont typeface="Wingdings" charset="2"/>
              <a:buChar char=""/>
            </a:pPr>
            <a:r>
              <a:rPr b="0" lang="en-US" sz="2250" spc="-1" strike="noStrike">
                <a:solidFill>
                  <a:schemeClr val="dk1"/>
                </a:solidFill>
                <a:latin typeface="Aptos"/>
              </a:rPr>
              <a:t>Sixth Outline Level</a:t>
            </a:r>
            <a:endParaRPr b="0" lang="en-US" sz="2250" spc="-1" strike="noStrike">
              <a:solidFill>
                <a:schemeClr val="dk1"/>
              </a:solidFill>
              <a:latin typeface="Aptos"/>
            </a:endParaRPr>
          </a:p>
          <a:p>
            <a:pPr lvl="6" marL="3024000" indent="-216000">
              <a:lnSpc>
                <a:spcPct val="90000"/>
              </a:lnSpc>
              <a:spcBef>
                <a:spcPts val="283"/>
              </a:spcBef>
              <a:buClr>
                <a:srgbClr val="000000"/>
              </a:buClr>
              <a:buSzPct val="45000"/>
              <a:buFont typeface="Wingdings" charset="2"/>
              <a:buChar char=""/>
            </a:pPr>
            <a:r>
              <a:rPr b="0" lang="en-US" sz="2250" spc="-1" strike="noStrike">
                <a:solidFill>
                  <a:schemeClr val="dk1"/>
                </a:solidFill>
                <a:latin typeface="Aptos"/>
              </a:rPr>
              <a:t>Seventh Outline Level</a:t>
            </a:r>
            <a:endParaRPr b="0" lang="en-US" sz="225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533520"/>
            <a:ext cx="10820160" cy="837720"/>
          </a:xfrm>
          <a:prstGeom prst="rect">
            <a:avLst/>
          </a:prstGeom>
          <a:noFill/>
          <a:ln w="0">
            <a:noFill/>
          </a:ln>
        </p:spPr>
        <p:txBody>
          <a:bodyPr lIns="0" rIns="0" tIns="0" bIns="0" anchor="t">
            <a:normAutofit/>
          </a:bodyPr>
          <a:p>
            <a:pPr indent="0">
              <a:lnSpc>
                <a:spcPct val="90000"/>
              </a:lnSpc>
              <a:buNone/>
            </a:pPr>
            <a:r>
              <a:rPr b="0" lang="en-US" sz="3300" spc="-1" strike="noStrike">
                <a:solidFill>
                  <a:schemeClr val="dk1"/>
                </a:solidFill>
                <a:latin typeface="Aptos"/>
              </a:rPr>
              <a:t>Cli</a:t>
            </a:r>
            <a:r>
              <a:rPr b="0" lang="en-US" sz="3300" spc="-1" strike="noStrike">
                <a:solidFill>
                  <a:schemeClr val="dk1"/>
                </a:solidFill>
                <a:latin typeface="Aptos"/>
              </a:rPr>
              <a:t>ck </a:t>
            </a:r>
            <a:r>
              <a:rPr b="0" lang="en-US" sz="3300" spc="-1" strike="noStrike">
                <a:solidFill>
                  <a:schemeClr val="dk1"/>
                </a:solidFill>
                <a:latin typeface="Aptos"/>
              </a:rPr>
              <a:t>to </a:t>
            </a:r>
            <a:r>
              <a:rPr b="0" lang="en-US" sz="3300" spc="-1" strike="noStrike">
                <a:solidFill>
                  <a:schemeClr val="dk1"/>
                </a:solidFill>
                <a:latin typeface="Aptos"/>
              </a:rPr>
              <a:t>ed</a:t>
            </a:r>
            <a:r>
              <a:rPr b="0" lang="en-US" sz="3300" spc="-1" strike="noStrike">
                <a:solidFill>
                  <a:schemeClr val="dk1"/>
                </a:solidFill>
                <a:latin typeface="Aptos"/>
              </a:rPr>
              <a:t>it </a:t>
            </a:r>
            <a:r>
              <a:rPr b="0" lang="en-US" sz="3300" spc="-1" strike="noStrike">
                <a:solidFill>
                  <a:schemeClr val="dk1"/>
                </a:solidFill>
                <a:latin typeface="Aptos"/>
              </a:rPr>
              <a:t>th</a:t>
            </a:r>
            <a:r>
              <a:rPr b="0" lang="en-US" sz="3300" spc="-1" strike="noStrike">
                <a:solidFill>
                  <a:schemeClr val="dk1"/>
                </a:solidFill>
                <a:latin typeface="Aptos"/>
              </a:rPr>
              <a:t>e </a:t>
            </a:r>
            <a:r>
              <a:rPr b="0" lang="en-US" sz="3300" spc="-1" strike="noStrike">
                <a:solidFill>
                  <a:schemeClr val="dk1"/>
                </a:solidFill>
                <a:latin typeface="Aptos"/>
              </a:rPr>
              <a:t>titl</a:t>
            </a:r>
            <a:r>
              <a:rPr b="0" lang="en-US" sz="3300" spc="-1" strike="noStrike">
                <a:solidFill>
                  <a:schemeClr val="dk1"/>
                </a:solidFill>
                <a:latin typeface="Aptos"/>
              </a:rPr>
              <a:t>e </a:t>
            </a:r>
            <a:r>
              <a:rPr b="0" lang="en-US" sz="3300" spc="-1" strike="noStrike">
                <a:solidFill>
                  <a:schemeClr val="dk1"/>
                </a:solidFill>
                <a:latin typeface="Aptos"/>
              </a:rPr>
              <a:t>te</a:t>
            </a:r>
            <a:r>
              <a:rPr b="0" lang="en-US" sz="3300" spc="-1" strike="noStrike">
                <a:solidFill>
                  <a:schemeClr val="dk1"/>
                </a:solidFill>
                <a:latin typeface="Aptos"/>
              </a:rPr>
              <a:t>xt </a:t>
            </a:r>
            <a:r>
              <a:rPr b="0" lang="en-US" sz="3300" spc="-1" strike="noStrike">
                <a:solidFill>
                  <a:schemeClr val="dk1"/>
                </a:solidFill>
                <a:latin typeface="Aptos"/>
              </a:rPr>
              <a:t>fo</a:t>
            </a:r>
            <a:r>
              <a:rPr b="0" lang="en-US" sz="3300" spc="-1" strike="noStrike">
                <a:solidFill>
                  <a:schemeClr val="dk1"/>
                </a:solidFill>
                <a:latin typeface="Aptos"/>
              </a:rPr>
              <a:t>r</a:t>
            </a:r>
            <a:r>
              <a:rPr b="0" lang="en-US" sz="3300" spc="-1" strike="noStrike">
                <a:solidFill>
                  <a:schemeClr val="dk1"/>
                </a:solidFill>
                <a:latin typeface="Aptos"/>
              </a:rPr>
              <a:t>m</a:t>
            </a:r>
            <a:r>
              <a:rPr b="0" lang="en-US" sz="3300" spc="-1" strike="noStrike">
                <a:solidFill>
                  <a:schemeClr val="dk1"/>
                </a:solidFill>
                <a:latin typeface="Aptos"/>
              </a:rPr>
              <a:t>at</a:t>
            </a:r>
            <a:endParaRPr b="0" lang="en-US" sz="3300" spc="-1" strike="noStrike">
              <a:solidFill>
                <a:schemeClr val="dk1"/>
              </a:solidFill>
              <a:latin typeface="Aptos"/>
            </a:endParaRPr>
          </a:p>
        </p:txBody>
      </p:sp>
      <p:sp>
        <p:nvSpPr>
          <p:cNvPr id="6" name="PlaceHolder 2"/>
          <p:cNvSpPr>
            <a:spLocks noGrp="1"/>
          </p:cNvSpPr>
          <p:nvPr>
            <p:ph type="body"/>
          </p:nvPr>
        </p:nvSpPr>
        <p:spPr>
          <a:xfrm>
            <a:off x="685800" y="1905120"/>
            <a:ext cx="5028840" cy="42667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100" spc="-1" strike="noStrike">
                <a:solidFill>
                  <a:schemeClr val="dk1"/>
                </a:solidFill>
                <a:latin typeface="Aptos"/>
              </a:rPr>
              <a:t>Click to edit the outline text format</a:t>
            </a:r>
            <a:endParaRPr b="0" lang="en-US" sz="2100" spc="-1" strike="noStrike">
              <a:solidFill>
                <a:schemeClr val="dk1"/>
              </a:solidFill>
              <a:latin typeface="Aptos"/>
            </a:endParaRPr>
          </a:p>
          <a:p>
            <a:pPr lvl="1" marL="864000" indent="-324000">
              <a:lnSpc>
                <a:spcPct val="90000"/>
              </a:lnSpc>
              <a:spcBef>
                <a:spcPts val="1134"/>
              </a:spcBef>
              <a:buClr>
                <a:srgbClr val="000000"/>
              </a:buClr>
              <a:buSzPct val="75000"/>
              <a:buFont typeface="Symbol" charset="2"/>
              <a:buChar char=""/>
            </a:pPr>
            <a:r>
              <a:rPr b="0" lang="en-US" sz="2100" spc="-1" strike="noStrike">
                <a:solidFill>
                  <a:schemeClr val="dk1"/>
                </a:solidFill>
                <a:latin typeface="Aptos"/>
              </a:rPr>
              <a:t>Second Outline Level</a:t>
            </a:r>
            <a:endParaRPr b="0" lang="en-US" sz="2100" spc="-1" strike="noStrike">
              <a:solidFill>
                <a:schemeClr val="dk1"/>
              </a:solidFill>
              <a:latin typeface="Aptos"/>
            </a:endParaRPr>
          </a:p>
          <a:p>
            <a:pPr lvl="2" marL="1296000" indent="-288000">
              <a:lnSpc>
                <a:spcPct val="90000"/>
              </a:lnSpc>
              <a:spcBef>
                <a:spcPts val="850"/>
              </a:spcBef>
              <a:buClr>
                <a:srgbClr val="000000"/>
              </a:buClr>
              <a:buSzPct val="45000"/>
              <a:buFont typeface="Wingdings" charset="2"/>
              <a:buChar char=""/>
            </a:pPr>
            <a:r>
              <a:rPr b="0" lang="en-US" sz="2100" spc="-1" strike="noStrike">
                <a:solidFill>
                  <a:schemeClr val="dk1"/>
                </a:solidFill>
                <a:latin typeface="Aptos"/>
              </a:rPr>
              <a:t>Third Outline Level</a:t>
            </a:r>
            <a:endParaRPr b="0" lang="en-US" sz="2100" spc="-1" strike="noStrike">
              <a:solidFill>
                <a:schemeClr val="dk1"/>
              </a:solidFill>
              <a:latin typeface="Aptos"/>
            </a:endParaRPr>
          </a:p>
          <a:p>
            <a:pPr lvl="3" marL="1728000" indent="-216000">
              <a:lnSpc>
                <a:spcPct val="90000"/>
              </a:lnSpc>
              <a:spcBef>
                <a:spcPts val="567"/>
              </a:spcBef>
              <a:buClr>
                <a:srgbClr val="000000"/>
              </a:buClr>
              <a:buSzPct val="75000"/>
              <a:buFont typeface="Symbol" charset="2"/>
              <a:buChar char=""/>
            </a:pPr>
            <a:r>
              <a:rPr b="0" lang="en-US" sz="2100" spc="-1" strike="noStrike">
                <a:solidFill>
                  <a:schemeClr val="dk1"/>
                </a:solidFill>
                <a:latin typeface="Aptos"/>
              </a:rPr>
              <a:t>Fourth Outline Level</a:t>
            </a:r>
            <a:endParaRPr b="0" lang="en-US" sz="2100" spc="-1" strike="noStrike">
              <a:solidFill>
                <a:schemeClr val="dk1"/>
              </a:solidFill>
              <a:latin typeface="Aptos"/>
            </a:endParaRPr>
          </a:p>
          <a:p>
            <a:pPr lvl="4" marL="2160000" indent="-216000">
              <a:lnSpc>
                <a:spcPct val="90000"/>
              </a:lnSpc>
              <a:spcBef>
                <a:spcPts val="283"/>
              </a:spcBef>
              <a:buClr>
                <a:srgbClr val="000000"/>
              </a:buClr>
              <a:buSzPct val="45000"/>
              <a:buFont typeface="Wingdings" charset="2"/>
              <a:buChar char=""/>
            </a:pPr>
            <a:r>
              <a:rPr b="0" lang="en-US" sz="2100" spc="-1" strike="noStrike">
                <a:solidFill>
                  <a:schemeClr val="dk1"/>
                </a:solidFill>
                <a:latin typeface="Aptos"/>
              </a:rPr>
              <a:t>Fifth Outline Level</a:t>
            </a:r>
            <a:endParaRPr b="0" lang="en-US" sz="2100" spc="-1" strike="noStrike">
              <a:solidFill>
                <a:schemeClr val="dk1"/>
              </a:solidFill>
              <a:latin typeface="Aptos"/>
            </a:endParaRPr>
          </a:p>
          <a:p>
            <a:pPr lvl="5" marL="2592000" indent="-216000">
              <a:lnSpc>
                <a:spcPct val="90000"/>
              </a:lnSpc>
              <a:spcBef>
                <a:spcPts val="283"/>
              </a:spcBef>
              <a:buClr>
                <a:srgbClr val="000000"/>
              </a:buClr>
              <a:buSzPct val="45000"/>
              <a:buFont typeface="Wingdings" charset="2"/>
              <a:buChar char=""/>
            </a:pPr>
            <a:r>
              <a:rPr b="0" lang="en-US" sz="2100" spc="-1" strike="noStrike">
                <a:solidFill>
                  <a:schemeClr val="dk1"/>
                </a:solidFill>
                <a:latin typeface="Aptos"/>
              </a:rPr>
              <a:t>Sixth Outline Level</a:t>
            </a:r>
            <a:endParaRPr b="0" lang="en-US" sz="2100" spc="-1" strike="noStrike">
              <a:solidFill>
                <a:schemeClr val="dk1"/>
              </a:solidFill>
              <a:latin typeface="Aptos"/>
            </a:endParaRPr>
          </a:p>
          <a:p>
            <a:pPr lvl="6" marL="3024000" indent="-216000">
              <a:lnSpc>
                <a:spcPct val="90000"/>
              </a:lnSpc>
              <a:spcBef>
                <a:spcPts val="283"/>
              </a:spcBef>
              <a:buClr>
                <a:srgbClr val="000000"/>
              </a:buClr>
              <a:buSzPct val="45000"/>
              <a:buFont typeface="Wingdings" charset="2"/>
              <a:buChar char=""/>
            </a:pPr>
            <a:r>
              <a:rPr b="0" lang="en-US" sz="2100" spc="-1" strike="noStrike">
                <a:solidFill>
                  <a:schemeClr val="dk1"/>
                </a:solidFill>
                <a:latin typeface="Aptos"/>
              </a:rPr>
              <a:t>Seventh Outline Level</a:t>
            </a:r>
            <a:endParaRPr b="0" lang="en-US" sz="2100" spc="-1" strike="noStrike">
              <a:solidFill>
                <a:schemeClr val="dk1"/>
              </a:solidFill>
              <a:latin typeface="Aptos"/>
            </a:endParaRPr>
          </a:p>
        </p:txBody>
      </p:sp>
      <p:sp>
        <p:nvSpPr>
          <p:cNvPr id="7" name="PlaceHolder 3"/>
          <p:cNvSpPr>
            <a:spLocks noGrp="1"/>
          </p:cNvSpPr>
          <p:nvPr>
            <p:ph type="body"/>
          </p:nvPr>
        </p:nvSpPr>
        <p:spPr>
          <a:xfrm>
            <a:off x="6477120" y="1905120"/>
            <a:ext cx="5028840" cy="42667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100" spc="-1" strike="noStrike">
                <a:solidFill>
                  <a:schemeClr val="dk1"/>
                </a:solidFill>
                <a:latin typeface="Aptos"/>
              </a:rPr>
              <a:t>Click to edit the outline text format</a:t>
            </a:r>
            <a:endParaRPr b="0" lang="en-US" sz="2100" spc="-1" strike="noStrike">
              <a:solidFill>
                <a:schemeClr val="dk1"/>
              </a:solidFill>
              <a:latin typeface="Aptos"/>
            </a:endParaRPr>
          </a:p>
          <a:p>
            <a:pPr lvl="1" marL="864000" indent="-324000">
              <a:lnSpc>
                <a:spcPct val="90000"/>
              </a:lnSpc>
              <a:spcBef>
                <a:spcPts val="1134"/>
              </a:spcBef>
              <a:buClr>
                <a:srgbClr val="000000"/>
              </a:buClr>
              <a:buSzPct val="75000"/>
              <a:buFont typeface="Symbol" charset="2"/>
              <a:buChar char=""/>
            </a:pPr>
            <a:r>
              <a:rPr b="0" lang="en-US" sz="2100" spc="-1" strike="noStrike">
                <a:solidFill>
                  <a:schemeClr val="dk1"/>
                </a:solidFill>
                <a:latin typeface="Aptos"/>
              </a:rPr>
              <a:t>Second Outline Level</a:t>
            </a:r>
            <a:endParaRPr b="0" lang="en-US" sz="2100" spc="-1" strike="noStrike">
              <a:solidFill>
                <a:schemeClr val="dk1"/>
              </a:solidFill>
              <a:latin typeface="Aptos"/>
            </a:endParaRPr>
          </a:p>
          <a:p>
            <a:pPr lvl="2" marL="1296000" indent="-288000">
              <a:lnSpc>
                <a:spcPct val="90000"/>
              </a:lnSpc>
              <a:spcBef>
                <a:spcPts val="850"/>
              </a:spcBef>
              <a:buClr>
                <a:srgbClr val="000000"/>
              </a:buClr>
              <a:buSzPct val="45000"/>
              <a:buFont typeface="Wingdings" charset="2"/>
              <a:buChar char=""/>
            </a:pPr>
            <a:r>
              <a:rPr b="0" lang="en-US" sz="2100" spc="-1" strike="noStrike">
                <a:solidFill>
                  <a:schemeClr val="dk1"/>
                </a:solidFill>
                <a:latin typeface="Aptos"/>
              </a:rPr>
              <a:t>Third Outline Level</a:t>
            </a:r>
            <a:endParaRPr b="0" lang="en-US" sz="2100" spc="-1" strike="noStrike">
              <a:solidFill>
                <a:schemeClr val="dk1"/>
              </a:solidFill>
              <a:latin typeface="Aptos"/>
            </a:endParaRPr>
          </a:p>
          <a:p>
            <a:pPr lvl="3" marL="1728000" indent="-216000">
              <a:lnSpc>
                <a:spcPct val="90000"/>
              </a:lnSpc>
              <a:spcBef>
                <a:spcPts val="567"/>
              </a:spcBef>
              <a:buClr>
                <a:srgbClr val="000000"/>
              </a:buClr>
              <a:buSzPct val="75000"/>
              <a:buFont typeface="Symbol" charset="2"/>
              <a:buChar char=""/>
            </a:pPr>
            <a:r>
              <a:rPr b="0" lang="en-US" sz="2100" spc="-1" strike="noStrike">
                <a:solidFill>
                  <a:schemeClr val="dk1"/>
                </a:solidFill>
                <a:latin typeface="Aptos"/>
              </a:rPr>
              <a:t>Fourth Outline Level</a:t>
            </a:r>
            <a:endParaRPr b="0" lang="en-US" sz="2100" spc="-1" strike="noStrike">
              <a:solidFill>
                <a:schemeClr val="dk1"/>
              </a:solidFill>
              <a:latin typeface="Aptos"/>
            </a:endParaRPr>
          </a:p>
          <a:p>
            <a:pPr lvl="4" marL="2160000" indent="-216000">
              <a:lnSpc>
                <a:spcPct val="90000"/>
              </a:lnSpc>
              <a:spcBef>
                <a:spcPts val="283"/>
              </a:spcBef>
              <a:buClr>
                <a:srgbClr val="000000"/>
              </a:buClr>
              <a:buSzPct val="45000"/>
              <a:buFont typeface="Wingdings" charset="2"/>
              <a:buChar char=""/>
            </a:pPr>
            <a:r>
              <a:rPr b="0" lang="en-US" sz="2100" spc="-1" strike="noStrike">
                <a:solidFill>
                  <a:schemeClr val="dk1"/>
                </a:solidFill>
                <a:latin typeface="Aptos"/>
              </a:rPr>
              <a:t>Fifth Outline Level</a:t>
            </a:r>
            <a:endParaRPr b="0" lang="en-US" sz="2100" spc="-1" strike="noStrike">
              <a:solidFill>
                <a:schemeClr val="dk1"/>
              </a:solidFill>
              <a:latin typeface="Aptos"/>
            </a:endParaRPr>
          </a:p>
          <a:p>
            <a:pPr lvl="5" marL="2592000" indent="-216000">
              <a:lnSpc>
                <a:spcPct val="90000"/>
              </a:lnSpc>
              <a:spcBef>
                <a:spcPts val="283"/>
              </a:spcBef>
              <a:buClr>
                <a:srgbClr val="000000"/>
              </a:buClr>
              <a:buSzPct val="45000"/>
              <a:buFont typeface="Wingdings" charset="2"/>
              <a:buChar char=""/>
            </a:pPr>
            <a:r>
              <a:rPr b="0" lang="en-US" sz="2100" spc="-1" strike="noStrike">
                <a:solidFill>
                  <a:schemeClr val="dk1"/>
                </a:solidFill>
                <a:latin typeface="Aptos"/>
              </a:rPr>
              <a:t>Sixth Outline Level</a:t>
            </a:r>
            <a:endParaRPr b="0" lang="en-US" sz="2100" spc="-1" strike="noStrike">
              <a:solidFill>
                <a:schemeClr val="dk1"/>
              </a:solidFill>
              <a:latin typeface="Aptos"/>
            </a:endParaRPr>
          </a:p>
          <a:p>
            <a:pPr lvl="6" marL="3024000" indent="-216000">
              <a:lnSpc>
                <a:spcPct val="90000"/>
              </a:lnSpc>
              <a:spcBef>
                <a:spcPts val="283"/>
              </a:spcBef>
              <a:buClr>
                <a:srgbClr val="000000"/>
              </a:buClr>
              <a:buSzPct val="45000"/>
              <a:buFont typeface="Wingdings" charset="2"/>
              <a:buChar char=""/>
            </a:pPr>
            <a:r>
              <a:rPr b="0" lang="en-US" sz="2100" spc="-1" strike="noStrike">
                <a:solidFill>
                  <a:schemeClr val="dk1"/>
                </a:solidFill>
                <a:latin typeface="Aptos"/>
              </a:rPr>
              <a:t>Seventh Outline Level</a:t>
            </a:r>
            <a:endParaRPr b="0" lang="en-US" sz="21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1219320" y="2590920"/>
            <a:ext cx="9753120" cy="990360"/>
          </a:xfrm>
          <a:prstGeom prst="rect">
            <a:avLst/>
          </a:prstGeom>
          <a:noFill/>
          <a:ln w="0">
            <a:noFill/>
          </a:ln>
        </p:spPr>
        <p:txBody>
          <a:bodyPr lIns="0" rIns="0" tIns="0" bIns="0" anchor="ctr">
            <a:normAutofit/>
          </a:bodyPr>
          <a:p>
            <a:pPr indent="0">
              <a:lnSpc>
                <a:spcPct val="90000"/>
              </a:lnSpc>
              <a:buNone/>
            </a:pPr>
            <a:r>
              <a:rPr b="0" lang="en-US" sz="4800" spc="-1" strike="noStrike">
                <a:solidFill>
                  <a:schemeClr val="dk1"/>
                </a:solidFill>
                <a:latin typeface="Aptos"/>
              </a:rPr>
              <a:t>Click to edit the title text format</a:t>
            </a:r>
            <a:endParaRPr b="0" lang="en-US" sz="48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533520"/>
            <a:ext cx="10820160" cy="837720"/>
          </a:xfrm>
          <a:prstGeom prst="rect">
            <a:avLst/>
          </a:prstGeom>
          <a:noFill/>
          <a:ln w="0">
            <a:noFill/>
          </a:ln>
        </p:spPr>
        <p:txBody>
          <a:bodyPr lIns="0" rIns="0" tIns="0" bIns="0" anchor="t">
            <a:normAutofit/>
          </a:bodyPr>
          <a:p>
            <a:pPr indent="0">
              <a:lnSpc>
                <a:spcPct val="90000"/>
              </a:lnSpc>
              <a:buNone/>
            </a:pPr>
            <a:r>
              <a:rPr b="0" lang="en-US" sz="3300" spc="-1" strike="noStrike">
                <a:solidFill>
                  <a:schemeClr val="dk1"/>
                </a:solidFill>
                <a:latin typeface="Aptos"/>
              </a:rPr>
              <a:t>Click to edit the title text format</a:t>
            </a:r>
            <a:endParaRPr b="0" lang="en-US" sz="3300" spc="-1" strike="noStrike">
              <a:solidFill>
                <a:schemeClr val="dk1"/>
              </a:solidFill>
              <a:latin typeface="Aptos"/>
            </a:endParaRPr>
          </a:p>
        </p:txBody>
      </p:sp>
      <p:sp>
        <p:nvSpPr>
          <p:cNvPr id="12" name="PlaceHolder 2"/>
          <p:cNvSpPr>
            <a:spLocks noGrp="1"/>
          </p:cNvSpPr>
          <p:nvPr>
            <p:ph type="body"/>
          </p:nvPr>
        </p:nvSpPr>
        <p:spPr>
          <a:xfrm>
            <a:off x="685800" y="1905120"/>
            <a:ext cx="5028840" cy="42667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250" spc="-1" strike="noStrike">
                <a:solidFill>
                  <a:schemeClr val="dk1"/>
                </a:solidFill>
                <a:latin typeface="Aptos"/>
              </a:rPr>
              <a:t>Click to edit the outline text format</a:t>
            </a:r>
            <a:endParaRPr b="0" lang="en-US" sz="2250" spc="-1" strike="noStrike">
              <a:solidFill>
                <a:schemeClr val="dk1"/>
              </a:solidFill>
              <a:latin typeface="Aptos"/>
            </a:endParaRPr>
          </a:p>
          <a:p>
            <a:pPr lvl="1" marL="864000" indent="-324000">
              <a:lnSpc>
                <a:spcPct val="90000"/>
              </a:lnSpc>
              <a:spcBef>
                <a:spcPts val="1134"/>
              </a:spcBef>
              <a:buClr>
                <a:srgbClr val="000000"/>
              </a:buClr>
              <a:buSzPct val="75000"/>
              <a:buFont typeface="Symbol" charset="2"/>
              <a:buChar char=""/>
            </a:pPr>
            <a:r>
              <a:rPr b="0" lang="en-US" sz="2250" spc="-1" strike="noStrike">
                <a:solidFill>
                  <a:schemeClr val="dk1"/>
                </a:solidFill>
                <a:latin typeface="Aptos"/>
              </a:rPr>
              <a:t>Second Outline Level</a:t>
            </a:r>
            <a:endParaRPr b="0" lang="en-US" sz="2250" spc="-1" strike="noStrike">
              <a:solidFill>
                <a:schemeClr val="dk1"/>
              </a:solidFill>
              <a:latin typeface="Aptos"/>
            </a:endParaRPr>
          </a:p>
          <a:p>
            <a:pPr lvl="2" marL="1296000" indent="-288000">
              <a:lnSpc>
                <a:spcPct val="90000"/>
              </a:lnSpc>
              <a:spcBef>
                <a:spcPts val="850"/>
              </a:spcBef>
              <a:buClr>
                <a:srgbClr val="000000"/>
              </a:buClr>
              <a:buSzPct val="45000"/>
              <a:buFont typeface="Wingdings" charset="2"/>
              <a:buChar char=""/>
            </a:pPr>
            <a:r>
              <a:rPr b="0" lang="en-US" sz="2250" spc="-1" strike="noStrike">
                <a:solidFill>
                  <a:schemeClr val="dk1"/>
                </a:solidFill>
                <a:latin typeface="Aptos"/>
              </a:rPr>
              <a:t>Third Outline Level</a:t>
            </a:r>
            <a:endParaRPr b="0" lang="en-US" sz="2250" spc="-1" strike="noStrike">
              <a:solidFill>
                <a:schemeClr val="dk1"/>
              </a:solidFill>
              <a:latin typeface="Aptos"/>
            </a:endParaRPr>
          </a:p>
          <a:p>
            <a:pPr lvl="3" marL="1728000" indent="-216000">
              <a:lnSpc>
                <a:spcPct val="90000"/>
              </a:lnSpc>
              <a:spcBef>
                <a:spcPts val="567"/>
              </a:spcBef>
              <a:buClr>
                <a:srgbClr val="000000"/>
              </a:buClr>
              <a:buSzPct val="75000"/>
              <a:buFont typeface="Symbol" charset="2"/>
              <a:buChar char=""/>
            </a:pPr>
            <a:r>
              <a:rPr b="0" lang="en-US" sz="2250" spc="-1" strike="noStrike">
                <a:solidFill>
                  <a:schemeClr val="dk1"/>
                </a:solidFill>
                <a:latin typeface="Aptos"/>
              </a:rPr>
              <a:t>Fourth Outline Level</a:t>
            </a:r>
            <a:endParaRPr b="0" lang="en-US" sz="2250" spc="-1" strike="noStrike">
              <a:solidFill>
                <a:schemeClr val="dk1"/>
              </a:solidFill>
              <a:latin typeface="Aptos"/>
            </a:endParaRPr>
          </a:p>
          <a:p>
            <a:pPr lvl="4" marL="2160000" indent="-216000">
              <a:lnSpc>
                <a:spcPct val="90000"/>
              </a:lnSpc>
              <a:spcBef>
                <a:spcPts val="283"/>
              </a:spcBef>
              <a:buClr>
                <a:srgbClr val="000000"/>
              </a:buClr>
              <a:buSzPct val="45000"/>
              <a:buFont typeface="Wingdings" charset="2"/>
              <a:buChar char=""/>
            </a:pPr>
            <a:r>
              <a:rPr b="0" lang="en-US" sz="2250" spc="-1" strike="noStrike">
                <a:solidFill>
                  <a:schemeClr val="dk1"/>
                </a:solidFill>
                <a:latin typeface="Aptos"/>
              </a:rPr>
              <a:t>Fifth Outline Level</a:t>
            </a:r>
            <a:endParaRPr b="0" lang="en-US" sz="2250" spc="-1" strike="noStrike">
              <a:solidFill>
                <a:schemeClr val="dk1"/>
              </a:solidFill>
              <a:latin typeface="Aptos"/>
            </a:endParaRPr>
          </a:p>
          <a:p>
            <a:pPr lvl="5" marL="2592000" indent="-216000">
              <a:lnSpc>
                <a:spcPct val="90000"/>
              </a:lnSpc>
              <a:spcBef>
                <a:spcPts val="283"/>
              </a:spcBef>
              <a:buClr>
                <a:srgbClr val="000000"/>
              </a:buClr>
              <a:buSzPct val="45000"/>
              <a:buFont typeface="Wingdings" charset="2"/>
              <a:buChar char=""/>
            </a:pPr>
            <a:r>
              <a:rPr b="0" lang="en-US" sz="2250" spc="-1" strike="noStrike">
                <a:solidFill>
                  <a:schemeClr val="dk1"/>
                </a:solidFill>
                <a:latin typeface="Aptos"/>
              </a:rPr>
              <a:t>Sixth Outline Level</a:t>
            </a:r>
            <a:endParaRPr b="0" lang="en-US" sz="2250" spc="-1" strike="noStrike">
              <a:solidFill>
                <a:schemeClr val="dk1"/>
              </a:solidFill>
              <a:latin typeface="Aptos"/>
            </a:endParaRPr>
          </a:p>
          <a:p>
            <a:pPr lvl="6" marL="3024000" indent="-216000">
              <a:lnSpc>
                <a:spcPct val="90000"/>
              </a:lnSpc>
              <a:spcBef>
                <a:spcPts val="283"/>
              </a:spcBef>
              <a:buClr>
                <a:srgbClr val="000000"/>
              </a:buClr>
              <a:buSzPct val="45000"/>
              <a:buFont typeface="Wingdings" charset="2"/>
              <a:buChar char=""/>
            </a:pPr>
            <a:r>
              <a:rPr b="0" lang="en-US" sz="2250" spc="-1" strike="noStrike">
                <a:solidFill>
                  <a:schemeClr val="dk1"/>
                </a:solidFill>
                <a:latin typeface="Aptos"/>
              </a:rPr>
              <a:t>Seventh Outline Level</a:t>
            </a:r>
            <a:endParaRPr b="0" lang="en-US" sz="225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hyperlink" Target="https://docs.flutter.dev/ui/adaptive-responsive" TargetMode="External"/><Relationship Id="rId2" Type="http://schemas.openxmlformats.org/officeDocument/2006/relationships/hyperlink" Target="https://docs.flutter.dev/ui/adaptive-responsive/general" TargetMode="External"/><Relationship Id="rId3" Type="http://schemas.openxmlformats.org/officeDocument/2006/relationships/hyperlink" Target="https://docs.flutter.dev/ui/adaptive-responsive/input" TargetMode="External"/><Relationship Id="rId4" Type="http://schemas.openxmlformats.org/officeDocument/2006/relationships/hyperlink" Target="https://docs.flutter.dev/ui/adaptive-responsive/best-practices" TargetMode="External"/><Relationship Id="rId5" Type="http://schemas.openxmlformats.org/officeDocument/2006/relationships/slideLayout" Target="../slideLayouts/slideLayout2.xml"/><Relationship Id="rId6"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
          <p:cNvSpPr/>
          <p:nvPr/>
        </p:nvSpPr>
        <p:spPr>
          <a:xfrm>
            <a:off x="10839600" y="6448320"/>
            <a:ext cx="514080" cy="209160"/>
          </a:xfrm>
          <a:prstGeom prst="rect">
            <a:avLst/>
          </a:prstGeom>
          <a:noFill/>
          <a:ln w="0">
            <a:noFill/>
          </a:ln>
        </p:spPr>
        <p:style>
          <a:lnRef idx="0"/>
          <a:fillRef idx="0"/>
          <a:effectRef idx="0"/>
          <a:fontRef idx="minor"/>
        </p:style>
        <p:txBody>
          <a:bodyPr lIns="0" rIns="0" tIns="0" bIns="0" anchor="t">
            <a:noAutofit/>
          </a:bodyPr>
          <a:p>
            <a:pPr algn="r">
              <a:lnSpc>
                <a:spcPct val="100000"/>
              </a:lnSpc>
            </a:pPr>
            <a:r>
              <a:rPr b="0" lang="en-US" sz="1250" spc="-1" strike="noStrike">
                <a:solidFill>
                  <a:srgbClr val="6e6368"/>
                </a:solidFill>
                <a:latin typeface="Calibri Light"/>
                <a:ea typeface="Calibri Light"/>
              </a:rPr>
              <a:t>1</a:t>
            </a:r>
            <a:endParaRPr b="0" lang="en-US" sz="1250" spc="-1" strike="noStrike">
              <a:solidFill>
                <a:srgbClr val="000000"/>
              </a:solidFill>
              <a:latin typeface="Arial"/>
            </a:endParaRPr>
          </a:p>
        </p:txBody>
      </p:sp>
      <p:sp>
        <p:nvSpPr>
          <p:cNvPr id="20" name=""/>
          <p:cNvSpPr/>
          <p:nvPr/>
        </p:nvSpPr>
        <p:spPr>
          <a:xfrm>
            <a:off x="952560" y="333360"/>
            <a:ext cx="10286640" cy="80928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1" lang="en-US" sz="2020" spc="-1" strike="noStrike">
                <a:solidFill>
                  <a:srgbClr val="171717"/>
                </a:solidFill>
                <a:latin typeface="Arial"/>
                <a:ea typeface="Arial"/>
              </a:rPr>
              <a:t>TRƯỜNG ĐẠI HỌC BÁCH KHOA</a:t>
            </a:r>
            <a:endParaRPr b="0" lang="en-US" sz="2020" spc="-1" strike="noStrike">
              <a:solidFill>
                <a:srgbClr val="000000"/>
              </a:solidFill>
              <a:latin typeface="Arial"/>
            </a:endParaRPr>
          </a:p>
          <a:p>
            <a:pPr algn="ctr">
              <a:lnSpc>
                <a:spcPct val="100000"/>
              </a:lnSpc>
            </a:pPr>
            <a:r>
              <a:rPr b="1" lang="en-US" sz="2020" spc="-1" strike="noStrike">
                <a:solidFill>
                  <a:srgbClr val="171717"/>
                </a:solidFill>
                <a:latin typeface="Arial"/>
                <a:ea typeface="Arial"/>
              </a:rPr>
              <a:t>KHOA ĐIỆN TỬ VÀ TRÍ TUỆ NHÂN TẠO</a:t>
            </a:r>
            <a:endParaRPr b="0" lang="en-US" sz="2020" spc="-1" strike="noStrike">
              <a:solidFill>
                <a:srgbClr val="000000"/>
              </a:solidFill>
              <a:latin typeface="Arial"/>
            </a:endParaRPr>
          </a:p>
        </p:txBody>
      </p:sp>
      <p:sp>
        <p:nvSpPr>
          <p:cNvPr id="21" name=""/>
          <p:cNvSpPr/>
          <p:nvPr/>
        </p:nvSpPr>
        <p:spPr>
          <a:xfrm>
            <a:off x="952560" y="1428840"/>
            <a:ext cx="10286640" cy="66636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1" lang="en-US" sz="3450" spc="-1" strike="noStrike">
                <a:solidFill>
                  <a:srgbClr val="171717"/>
                </a:solidFill>
                <a:latin typeface="Calibri Light"/>
                <a:ea typeface="Calibri Light"/>
              </a:rPr>
              <a:t>Báo cáo Tuần</a:t>
            </a:r>
            <a:endParaRPr b="1" lang="en-US" sz="3450" spc="-1" strike="noStrike">
              <a:solidFill>
                <a:srgbClr val="000000"/>
              </a:solidFill>
              <a:latin typeface="Arial"/>
            </a:endParaRPr>
          </a:p>
        </p:txBody>
      </p:sp>
      <p:sp>
        <p:nvSpPr>
          <p:cNvPr id="22" name=""/>
          <p:cNvSpPr/>
          <p:nvPr/>
        </p:nvSpPr>
        <p:spPr>
          <a:xfrm>
            <a:off x="1047600" y="2571840"/>
            <a:ext cx="10096200" cy="119016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1" lang="en-US" sz="3450" spc="-1" strike="noStrike">
                <a:solidFill>
                  <a:srgbClr val="171717"/>
                </a:solidFill>
                <a:latin typeface="Calibri Light"/>
                <a:ea typeface="Calibri Light"/>
              </a:rPr>
              <a:t>Chủ đề 03</a:t>
            </a:r>
            <a:endParaRPr b="0" lang="en-US" sz="3450" spc="-1" strike="noStrike">
              <a:solidFill>
                <a:srgbClr val="000000"/>
              </a:solidFill>
              <a:latin typeface="Arial"/>
            </a:endParaRPr>
          </a:p>
          <a:p>
            <a:pPr algn="ctr">
              <a:lnSpc>
                <a:spcPct val="100000"/>
              </a:lnSpc>
            </a:pPr>
            <a:r>
              <a:rPr b="0" lang="en-US" sz="3450" spc="-1" strike="noStrike">
                <a:solidFill>
                  <a:srgbClr val="171717"/>
                </a:solidFill>
                <a:latin typeface="Calibri Light"/>
                <a:ea typeface="Calibri Light"/>
              </a:rPr>
              <a:t>RESPONSIVE VÀ ADAPTIVE UI</a:t>
            </a:r>
            <a:endParaRPr b="0" lang="en-US" sz="3450" spc="-1" strike="noStrike">
              <a:solidFill>
                <a:srgbClr val="000000"/>
              </a:solidFill>
              <a:latin typeface="Arial"/>
            </a:endParaRPr>
          </a:p>
        </p:txBody>
      </p:sp>
      <p:sp>
        <p:nvSpPr>
          <p:cNvPr id="23" name=""/>
          <p:cNvSpPr/>
          <p:nvPr/>
        </p:nvSpPr>
        <p:spPr>
          <a:xfrm>
            <a:off x="952560" y="4172040"/>
            <a:ext cx="10286640" cy="39960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2320" spc="-1" strike="noStrike">
                <a:solidFill>
                  <a:srgbClr val="171717"/>
                </a:solidFill>
                <a:latin typeface="Calibri Light"/>
                <a:ea typeface="Calibri Light"/>
              </a:rPr>
              <a:t>Môn: Lập trình Đa nền tảng</a:t>
            </a:r>
            <a:endParaRPr b="0" lang="en-US" sz="2320" spc="-1" strike="noStrike">
              <a:solidFill>
                <a:srgbClr val="000000"/>
              </a:solidFill>
              <a:latin typeface="Arial"/>
            </a:endParaRPr>
          </a:p>
        </p:txBody>
      </p:sp>
      <p:sp>
        <p:nvSpPr>
          <p:cNvPr id="24" name=""/>
          <p:cNvSpPr/>
          <p:nvPr/>
        </p:nvSpPr>
        <p:spPr>
          <a:xfrm>
            <a:off x="952560" y="4629240"/>
            <a:ext cx="10286640" cy="39960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2320" spc="-1" strike="noStrike">
                <a:solidFill>
                  <a:srgbClr val="171717"/>
                </a:solidFill>
                <a:latin typeface="Calibri Light"/>
                <a:ea typeface="Calibri Light"/>
              </a:rPr>
              <a:t>GVHD: TS. Nguyễn Duy Nhật Viễn</a:t>
            </a:r>
            <a:endParaRPr b="0" lang="en-US" sz="2320" spc="-1" strike="noStrike">
              <a:solidFill>
                <a:srgbClr val="000000"/>
              </a:solidFill>
              <a:latin typeface="Arial"/>
            </a:endParaRPr>
          </a:p>
        </p:txBody>
      </p:sp>
      <p:sp>
        <p:nvSpPr>
          <p:cNvPr id="25" name=""/>
          <p:cNvSpPr/>
          <p:nvPr/>
        </p:nvSpPr>
        <p:spPr>
          <a:xfrm>
            <a:off x="3429000" y="5238720"/>
            <a:ext cx="7143480" cy="7808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250" spc="-1" strike="noStrike">
                <a:solidFill>
                  <a:srgbClr val="171717"/>
                </a:solidFill>
                <a:latin typeface="Calibri Light"/>
                <a:ea typeface="Calibri Light"/>
              </a:rPr>
              <a:t>SVTH:  1. Lê Minh Chiến</a:t>
            </a:r>
            <a:endParaRPr b="0" lang="en-US" sz="2250" spc="-1" strike="noStrike">
              <a:solidFill>
                <a:srgbClr val="000000"/>
              </a:solidFill>
              <a:latin typeface="Arial"/>
            </a:endParaRPr>
          </a:p>
          <a:p>
            <a:pPr>
              <a:lnSpc>
                <a:spcPct val="100000"/>
              </a:lnSpc>
            </a:pPr>
            <a:r>
              <a:rPr b="0" lang="en-US" sz="2250" spc="-1" strike="noStrike">
                <a:solidFill>
                  <a:srgbClr val="171717"/>
                </a:solidFill>
                <a:latin typeface="Calibri Light"/>
                <a:ea typeface="Calibri Light"/>
              </a:rPr>
              <a:t>             </a:t>
            </a:r>
            <a:r>
              <a:rPr b="0" lang="en-US" sz="2250" spc="-1" strike="noStrike">
                <a:solidFill>
                  <a:srgbClr val="171717"/>
                </a:solidFill>
                <a:latin typeface="Calibri Light"/>
                <a:ea typeface="Calibri Light"/>
              </a:rPr>
              <a:t>2. Hứa Quốc Cường</a:t>
            </a:r>
            <a:endParaRPr b="0" lang="en-US" sz="2250" spc="-1" strike="noStrike">
              <a:solidFill>
                <a:srgbClr val="000000"/>
              </a:solidFill>
              <a:latin typeface="Arial"/>
            </a:endParaRPr>
          </a:p>
        </p:txBody>
      </p:sp>
      <p:sp>
        <p:nvSpPr>
          <p:cNvPr id="26" name=""/>
          <p:cNvSpPr/>
          <p:nvPr/>
        </p:nvSpPr>
        <p:spPr>
          <a:xfrm>
            <a:off x="952560" y="6143760"/>
            <a:ext cx="10286640" cy="35208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2100" spc="-1" strike="noStrike">
                <a:solidFill>
                  <a:srgbClr val="171717"/>
                </a:solidFill>
                <a:latin typeface="Calibri Light"/>
                <a:ea typeface="Calibri Light"/>
              </a:rPr>
              <a:t>Đà Nẵng, 2026</a:t>
            </a: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 name=""/>
          <p:cNvSpPr/>
          <p:nvPr/>
        </p:nvSpPr>
        <p:spPr>
          <a:xfrm>
            <a:off x="762120" y="380880"/>
            <a:ext cx="106675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3230" spc="-1" strike="noStrike">
                <a:solidFill>
                  <a:srgbClr val="171717"/>
                </a:solidFill>
                <a:latin typeface="Calibri Light"/>
                <a:ea typeface="Calibri Light"/>
              </a:rPr>
              <a:t>Phân công công việc</a:t>
            </a:r>
            <a:endParaRPr b="0" lang="en-US" sz="3230" spc="-1" strike="noStrike">
              <a:solidFill>
                <a:srgbClr val="000000"/>
              </a:solidFill>
              <a:latin typeface="Arial"/>
            </a:endParaRPr>
          </a:p>
        </p:txBody>
      </p:sp>
      <p:sp>
        <p:nvSpPr>
          <p:cNvPr id="28" name=""/>
          <p:cNvSpPr/>
          <p:nvPr/>
        </p:nvSpPr>
        <p:spPr>
          <a:xfrm>
            <a:off x="838080" y="6448320"/>
            <a:ext cx="952452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6e6368"/>
                </a:solidFill>
                <a:latin typeface="Calibri Light"/>
                <a:ea typeface="Calibri Light"/>
              </a:rPr>
              <a:t>Chủ đề 03: Responsive và Adaptive UI trong Flutter</a:t>
            </a:r>
            <a:endParaRPr b="0" lang="en-US" sz="1000" spc="-1" strike="noStrike">
              <a:solidFill>
                <a:srgbClr val="000000"/>
              </a:solidFill>
              <a:latin typeface="Arial"/>
            </a:endParaRPr>
          </a:p>
        </p:txBody>
      </p:sp>
      <p:sp>
        <p:nvSpPr>
          <p:cNvPr id="29" name=""/>
          <p:cNvSpPr/>
          <p:nvPr/>
        </p:nvSpPr>
        <p:spPr>
          <a:xfrm>
            <a:off x="10839600" y="6448320"/>
            <a:ext cx="514080" cy="209160"/>
          </a:xfrm>
          <a:prstGeom prst="rect">
            <a:avLst/>
          </a:prstGeom>
          <a:noFill/>
          <a:ln w="0">
            <a:noFill/>
          </a:ln>
        </p:spPr>
        <p:style>
          <a:lnRef idx="0"/>
          <a:fillRef idx="0"/>
          <a:effectRef idx="0"/>
          <a:fontRef idx="minor"/>
        </p:style>
        <p:txBody>
          <a:bodyPr lIns="0" rIns="0" tIns="0" bIns="0" anchor="t">
            <a:noAutofit/>
          </a:bodyPr>
          <a:p>
            <a:pPr algn="r">
              <a:lnSpc>
                <a:spcPct val="100000"/>
              </a:lnSpc>
            </a:pPr>
            <a:r>
              <a:rPr b="0" lang="en-US" sz="1250" spc="-1" strike="noStrike">
                <a:solidFill>
                  <a:srgbClr val="6e6368"/>
                </a:solidFill>
                <a:latin typeface="Calibri Light"/>
                <a:ea typeface="Calibri Light"/>
              </a:rPr>
              <a:t>2</a:t>
            </a:r>
            <a:endParaRPr b="0" lang="en-US" sz="1250" spc="-1" strike="noStrike">
              <a:solidFill>
                <a:srgbClr val="000000"/>
              </a:solidFill>
              <a:latin typeface="Arial"/>
            </a:endParaRPr>
          </a:p>
        </p:txBody>
      </p:sp>
      <p:graphicFrame>
        <p:nvGraphicFramePr>
          <p:cNvPr id="30" name=""/>
          <p:cNvGraphicFramePr/>
          <p:nvPr/>
        </p:nvGraphicFramePr>
        <p:xfrm>
          <a:off x="838080" y="1523880"/>
          <a:ext cx="10515240" cy="4142880"/>
        </p:xfrm>
        <a:graphic>
          <a:graphicData uri="http://schemas.openxmlformats.org/drawingml/2006/table">
            <a:tbl>
              <a:tblPr/>
              <a:tblGrid>
                <a:gridCol w="2666880"/>
                <a:gridCol w="7848360"/>
              </a:tblGrid>
              <a:tr h="618840">
                <a:tc>
                  <a:txBody>
                    <a:bodyPr anchor="ctr">
                      <a:noAutofit/>
                    </a:bodyPr>
                    <a:p>
                      <a:pPr>
                        <a:lnSpc>
                          <a:spcPct val="100000"/>
                        </a:lnSpc>
                      </a:pPr>
                      <a:r>
                        <a:rPr b="1" lang="en-US" sz="2170" spc="-1" strike="noStrike">
                          <a:solidFill>
                            <a:srgbClr val="ffffff"/>
                          </a:solidFill>
                          <a:latin typeface="Calibri Light"/>
                          <a:ea typeface="Calibri Light"/>
                        </a:rPr>
                        <a:t>THÀNH VIÊN</a:t>
                      </a:r>
                      <a:endParaRPr b="0" lang="en-US" sz="2170" spc="-1" strike="noStrike">
                        <a:solidFill>
                          <a:srgbClr val="ffffff"/>
                        </a:solidFill>
                        <a:latin typeface="Arial"/>
                      </a:endParaRPr>
                    </a:p>
                  </a:txBody>
                  <a:tcPr anchor="ctr" marL="91440" marR="91440">
                    <a:lnL w="14400">
                      <a:solidFill>
                        <a:srgbClr val="ffffff"/>
                      </a:solidFill>
                      <a:prstDash val="solid"/>
                    </a:lnL>
                    <a:lnR w="14400">
                      <a:solidFill>
                        <a:srgbClr val="ffffff"/>
                      </a:solidFill>
                      <a:prstDash val="solid"/>
                    </a:lnR>
                    <a:lnT w="14400">
                      <a:solidFill>
                        <a:srgbClr val="ffffff"/>
                      </a:solidFill>
                      <a:prstDash val="solid"/>
                    </a:lnT>
                    <a:lnB w="14400">
                      <a:solidFill>
                        <a:srgbClr val="ffffff"/>
                      </a:solidFill>
                      <a:prstDash val="solid"/>
                    </a:lnB>
                    <a:solidFill>
                      <a:srgbClr val="4472c4"/>
                    </a:solidFill>
                  </a:tcPr>
                </a:tc>
                <a:tc>
                  <a:txBody>
                    <a:bodyPr anchor="ctr">
                      <a:noAutofit/>
                    </a:bodyPr>
                    <a:p>
                      <a:pPr>
                        <a:lnSpc>
                          <a:spcPct val="100000"/>
                        </a:lnSpc>
                      </a:pPr>
                      <a:r>
                        <a:rPr b="1" lang="en-US" sz="2170" spc="-1" strike="noStrike">
                          <a:solidFill>
                            <a:srgbClr val="ffffff"/>
                          </a:solidFill>
                          <a:latin typeface="Calibri Light"/>
                          <a:ea typeface="Calibri Light"/>
                        </a:rPr>
                        <a:t>NỘI DUNG PHỤ TRÁCH</a:t>
                      </a:r>
                      <a:endParaRPr b="0" lang="en-US" sz="2170" spc="-1" strike="noStrike">
                        <a:solidFill>
                          <a:srgbClr val="ffffff"/>
                        </a:solidFill>
                        <a:latin typeface="Arial"/>
                      </a:endParaRPr>
                    </a:p>
                  </a:txBody>
                  <a:tcPr anchor="ctr" marL="91440" marR="91440">
                    <a:lnL w="12240">
                      <a:solidFill>
                        <a:srgbClr val="000000"/>
                      </a:solidFill>
                      <a:prstDash val="solid"/>
                    </a:lnL>
                    <a:lnR w="14400">
                      <a:solidFill>
                        <a:srgbClr val="ffffff"/>
                      </a:solidFill>
                      <a:prstDash val="solid"/>
                    </a:lnR>
                    <a:lnT w="14400">
                      <a:solidFill>
                        <a:srgbClr val="ffffff"/>
                      </a:solidFill>
                      <a:prstDash val="solid"/>
                    </a:lnT>
                    <a:lnB w="14400">
                      <a:solidFill>
                        <a:srgbClr val="ffffff"/>
                      </a:solidFill>
                      <a:prstDash val="solid"/>
                    </a:lnB>
                    <a:solidFill>
                      <a:srgbClr val="4472c4"/>
                    </a:solidFill>
                  </a:tcPr>
                </a:tc>
              </a:tr>
              <a:tr h="1761840">
                <a:tc>
                  <a:txBody>
                    <a:bodyPr anchor="ctr">
                      <a:noAutofit/>
                    </a:bodyPr>
                    <a:p>
                      <a:pPr>
                        <a:lnSpc>
                          <a:spcPct val="100000"/>
                        </a:lnSpc>
                      </a:pPr>
                      <a:r>
                        <a:rPr b="0" lang="en-US" sz="2170" spc="-1" strike="noStrike">
                          <a:solidFill>
                            <a:srgbClr val="171717"/>
                          </a:solidFill>
                          <a:latin typeface="Calibri Light"/>
                          <a:ea typeface="Calibri Light"/>
                        </a:rPr>
                        <a:t>Lê Minh Chiến</a:t>
                      </a:r>
                      <a:endParaRPr b="0" lang="en-US" sz="217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70" spc="-1" strike="noStrike">
                          <a:solidFill>
                            <a:srgbClr val="171717"/>
                          </a:solidFill>
                          <a:latin typeface="Calibri Light"/>
                          <a:ea typeface="Calibri Light"/>
                        </a:rPr>
                        <a:t>Nền tảng lý thuyết và slide lý thuyết.</a:t>
                      </a:r>
                      <a:endParaRPr b="0" lang="en-US" sz="2170" spc="-1" strike="noStrike">
                        <a:solidFill>
                          <a:srgbClr val="000000"/>
                        </a:solidFill>
                        <a:latin typeface="Arial"/>
                      </a:endParaRPr>
                    </a:p>
                    <a:p>
                      <a:pPr>
                        <a:lnSpc>
                          <a:spcPct val="100000"/>
                        </a:lnSpc>
                      </a:pPr>
                      <a:r>
                        <a:rPr b="0" lang="en-US" sz="2170" spc="-1" strike="noStrike">
                          <a:solidFill>
                            <a:srgbClr val="171717"/>
                          </a:solidFill>
                          <a:latin typeface="Calibri Light"/>
                          <a:ea typeface="Calibri Light"/>
                        </a:rPr>
                        <a:t>Responsive UI: kích thước, breakpoint và bố cục lưới.</a:t>
                      </a:r>
                      <a:endParaRPr b="0" lang="en-US" sz="217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r>
              <a:tr h="1761840">
                <a:tc>
                  <a:txBody>
                    <a:bodyPr anchor="ctr">
                      <a:noAutofit/>
                    </a:bodyPr>
                    <a:p>
                      <a:pPr>
                        <a:lnSpc>
                          <a:spcPct val="100000"/>
                        </a:lnSpc>
                      </a:pPr>
                      <a:r>
                        <a:rPr b="0" lang="en-US" sz="2170" spc="-1" strike="noStrike">
                          <a:solidFill>
                            <a:srgbClr val="171717"/>
                          </a:solidFill>
                          <a:latin typeface="Calibri Light"/>
                          <a:ea typeface="Calibri Light"/>
                        </a:rPr>
                        <a:t>Hứa Quốc Cường</a:t>
                      </a:r>
                      <a:endParaRPr b="0" lang="en-US" sz="217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e9ecf5"/>
                    </a:solidFill>
                  </a:tcPr>
                </a:tc>
                <a:tc>
                  <a:txBody>
                    <a:bodyPr anchor="ctr">
                      <a:noAutofit/>
                    </a:bodyPr>
                    <a:p>
                      <a:pPr>
                        <a:lnSpc>
                          <a:spcPct val="100000"/>
                        </a:lnSpc>
                      </a:pPr>
                      <a:r>
                        <a:rPr b="0" lang="en-US" sz="2170" spc="-1" strike="noStrike">
                          <a:solidFill>
                            <a:srgbClr val="171717"/>
                          </a:solidFill>
                          <a:latin typeface="Calibri Light"/>
                          <a:ea typeface="Calibri Light"/>
                        </a:rPr>
                        <a:t>Adaptive UI: điều hướng cho vùng hiển thị hẹp và rộng.</a:t>
                      </a:r>
                      <a:endParaRPr b="0" lang="en-US" sz="2170" spc="-1" strike="noStrike">
                        <a:solidFill>
                          <a:srgbClr val="000000"/>
                        </a:solidFill>
                        <a:latin typeface="Arial"/>
                      </a:endParaRPr>
                    </a:p>
                    <a:p>
                      <a:pPr>
                        <a:lnSpc>
                          <a:spcPct val="100000"/>
                        </a:lnSpc>
                      </a:pPr>
                      <a:r>
                        <a:rPr b="0" lang="en-US" sz="2170" spc="-1" strike="noStrike">
                          <a:solidFill>
                            <a:srgbClr val="171717"/>
                          </a:solidFill>
                          <a:latin typeface="Calibri Light"/>
                          <a:ea typeface="Calibri Light"/>
                        </a:rPr>
                        <a:t>Kết nối các thành phần thành dashboard hoàn chỉnh.</a:t>
                      </a:r>
                      <a:endParaRPr b="0" lang="en-US" sz="217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e9ecf5"/>
                    </a:solidFill>
                  </a:tcPr>
                </a:tc>
              </a:tr>
            </a:tbl>
          </a:graphicData>
        </a:graphic>
      </p:graphicFrame>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
          <p:cNvSpPr/>
          <p:nvPr/>
        </p:nvSpPr>
        <p:spPr>
          <a:xfrm>
            <a:off x="762120" y="380880"/>
            <a:ext cx="106675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3230" spc="-1" strike="noStrike">
                <a:solidFill>
                  <a:srgbClr val="171717"/>
                </a:solidFill>
                <a:latin typeface="Calibri Light"/>
                <a:ea typeface="Calibri Light"/>
              </a:rPr>
              <a:t>Nội dung nền tảng lý thuyết</a:t>
            </a:r>
            <a:endParaRPr b="0" lang="en-US" sz="3230" spc="-1" strike="noStrike">
              <a:solidFill>
                <a:srgbClr val="000000"/>
              </a:solidFill>
              <a:latin typeface="Arial"/>
            </a:endParaRPr>
          </a:p>
        </p:txBody>
      </p:sp>
      <p:sp>
        <p:nvSpPr>
          <p:cNvPr id="32" name=""/>
          <p:cNvSpPr/>
          <p:nvPr/>
        </p:nvSpPr>
        <p:spPr>
          <a:xfrm>
            <a:off x="838080" y="6448320"/>
            <a:ext cx="952452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6e6368"/>
                </a:solidFill>
                <a:latin typeface="Calibri Light"/>
                <a:ea typeface="Calibri Light"/>
              </a:rPr>
              <a:t>Chủ đề 03: Responsive và Adaptive UI trong Flutter</a:t>
            </a:r>
            <a:endParaRPr b="0" lang="en-US" sz="1000" spc="-1" strike="noStrike">
              <a:solidFill>
                <a:srgbClr val="000000"/>
              </a:solidFill>
              <a:latin typeface="Arial"/>
            </a:endParaRPr>
          </a:p>
        </p:txBody>
      </p:sp>
      <p:sp>
        <p:nvSpPr>
          <p:cNvPr id="33" name=""/>
          <p:cNvSpPr/>
          <p:nvPr/>
        </p:nvSpPr>
        <p:spPr>
          <a:xfrm>
            <a:off x="10839600" y="6448320"/>
            <a:ext cx="514080" cy="209160"/>
          </a:xfrm>
          <a:prstGeom prst="rect">
            <a:avLst/>
          </a:prstGeom>
          <a:noFill/>
          <a:ln w="0">
            <a:noFill/>
          </a:ln>
        </p:spPr>
        <p:style>
          <a:lnRef idx="0"/>
          <a:fillRef idx="0"/>
          <a:effectRef idx="0"/>
          <a:fontRef idx="minor"/>
        </p:style>
        <p:txBody>
          <a:bodyPr lIns="0" rIns="0" tIns="0" bIns="0" anchor="t">
            <a:noAutofit/>
          </a:bodyPr>
          <a:p>
            <a:pPr algn="r">
              <a:lnSpc>
                <a:spcPct val="100000"/>
              </a:lnSpc>
            </a:pPr>
            <a:r>
              <a:rPr b="0" lang="en-US" sz="1250" spc="-1" strike="noStrike">
                <a:solidFill>
                  <a:srgbClr val="6e6368"/>
                </a:solidFill>
                <a:latin typeface="Calibri Light"/>
                <a:ea typeface="Calibri Light"/>
              </a:rPr>
              <a:t>3</a:t>
            </a:r>
            <a:endParaRPr b="0" lang="en-US" sz="1250" spc="-1" strike="noStrike">
              <a:solidFill>
                <a:srgbClr val="000000"/>
              </a:solidFill>
              <a:latin typeface="Arial"/>
            </a:endParaRPr>
          </a:p>
        </p:txBody>
      </p:sp>
      <p:sp>
        <p:nvSpPr>
          <p:cNvPr id="34" name=""/>
          <p:cNvSpPr/>
          <p:nvPr/>
        </p:nvSpPr>
        <p:spPr>
          <a:xfrm>
            <a:off x="838080" y="1666800"/>
            <a:ext cx="10515240" cy="809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620" spc="-1" strike="noStrike">
                <a:solidFill>
                  <a:srgbClr val="171717"/>
                </a:solidFill>
                <a:latin typeface="Calibri Light"/>
                <a:ea typeface="Calibri Light"/>
              </a:rPr>
              <a:t>1. Responsive và Adaptive UI</a:t>
            </a:r>
            <a:endParaRPr b="0" lang="en-US" sz="2620" spc="-1" strike="noStrike">
              <a:solidFill>
                <a:srgbClr val="000000"/>
              </a:solidFill>
              <a:latin typeface="Arial"/>
            </a:endParaRPr>
          </a:p>
        </p:txBody>
      </p:sp>
      <p:sp>
        <p:nvSpPr>
          <p:cNvPr id="35" name=""/>
          <p:cNvSpPr/>
          <p:nvPr/>
        </p:nvSpPr>
        <p:spPr>
          <a:xfrm>
            <a:off x="838080" y="2733840"/>
            <a:ext cx="10515240" cy="809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620" spc="-1" strike="noStrike">
                <a:solidFill>
                  <a:srgbClr val="171717"/>
                </a:solidFill>
                <a:latin typeface="Calibri Light"/>
                <a:ea typeface="Calibri Light"/>
              </a:rPr>
              <a:t>2. MediaQuery, LayoutBuilder và breakpoint</a:t>
            </a:r>
            <a:endParaRPr b="0" lang="en-US" sz="2620" spc="-1" strike="noStrike">
              <a:solidFill>
                <a:srgbClr val="000000"/>
              </a:solidFill>
              <a:latin typeface="Arial"/>
            </a:endParaRPr>
          </a:p>
        </p:txBody>
      </p:sp>
      <p:sp>
        <p:nvSpPr>
          <p:cNvPr id="36" name=""/>
          <p:cNvSpPr/>
          <p:nvPr/>
        </p:nvSpPr>
        <p:spPr>
          <a:xfrm>
            <a:off x="838080" y="3800520"/>
            <a:ext cx="10515240" cy="809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620" spc="-1" strike="noStrike">
                <a:solidFill>
                  <a:srgbClr val="171717"/>
                </a:solidFill>
                <a:latin typeface="Calibri Light"/>
                <a:ea typeface="Calibri Light"/>
              </a:rPr>
              <a:t>3. Widget xây dựng bố cục và điều hướng</a:t>
            </a:r>
            <a:endParaRPr b="0" lang="en-US" sz="2620" spc="-1" strike="noStrike">
              <a:solidFill>
                <a:srgbClr val="000000"/>
              </a:solidFill>
              <a:latin typeface="Arial"/>
            </a:endParaRPr>
          </a:p>
        </p:txBody>
      </p:sp>
      <p:sp>
        <p:nvSpPr>
          <p:cNvPr id="37" name=""/>
          <p:cNvSpPr/>
          <p:nvPr/>
        </p:nvSpPr>
        <p:spPr>
          <a:xfrm>
            <a:off x="838080" y="4867200"/>
            <a:ext cx="10515240" cy="809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620" spc="-1" strike="noStrike">
                <a:solidFill>
                  <a:srgbClr val="171717"/>
                </a:solidFill>
                <a:latin typeface="Calibri Light"/>
                <a:ea typeface="Calibri Light"/>
              </a:rPr>
              <a:t>4. Nguyên tắc thiết kế cho màn hình và nhập liệu</a:t>
            </a:r>
            <a:endParaRPr b="0" lang="en-US" sz="262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
          <p:cNvSpPr/>
          <p:nvPr/>
        </p:nvSpPr>
        <p:spPr>
          <a:xfrm>
            <a:off x="762120" y="380880"/>
            <a:ext cx="106675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3230" spc="-1" strike="noStrike">
                <a:solidFill>
                  <a:srgbClr val="171717"/>
                </a:solidFill>
                <a:latin typeface="Calibri Light"/>
                <a:ea typeface="Calibri Light"/>
              </a:rPr>
              <a:t>1.1. Responsive UI</a:t>
            </a:r>
            <a:endParaRPr b="0" lang="en-US" sz="3230" spc="-1" strike="noStrike">
              <a:solidFill>
                <a:srgbClr val="000000"/>
              </a:solidFill>
              <a:latin typeface="Arial"/>
            </a:endParaRPr>
          </a:p>
        </p:txBody>
      </p:sp>
      <p:sp>
        <p:nvSpPr>
          <p:cNvPr id="39" name=""/>
          <p:cNvSpPr/>
          <p:nvPr/>
        </p:nvSpPr>
        <p:spPr>
          <a:xfrm>
            <a:off x="838080" y="6448320"/>
            <a:ext cx="952452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6e6368"/>
                </a:solidFill>
                <a:latin typeface="Calibri Light"/>
                <a:ea typeface="Calibri Light"/>
              </a:rPr>
              <a:t>Chủ đề 03: Responsive và Adaptive UI trong Flutter</a:t>
            </a:r>
            <a:endParaRPr b="0" lang="en-US" sz="1000" spc="-1" strike="noStrike">
              <a:solidFill>
                <a:srgbClr val="000000"/>
              </a:solidFill>
              <a:latin typeface="Arial"/>
            </a:endParaRPr>
          </a:p>
        </p:txBody>
      </p:sp>
      <p:sp>
        <p:nvSpPr>
          <p:cNvPr id="40" name=""/>
          <p:cNvSpPr/>
          <p:nvPr/>
        </p:nvSpPr>
        <p:spPr>
          <a:xfrm>
            <a:off x="10839600" y="6448320"/>
            <a:ext cx="514080" cy="209160"/>
          </a:xfrm>
          <a:prstGeom prst="rect">
            <a:avLst/>
          </a:prstGeom>
          <a:noFill/>
          <a:ln w="0">
            <a:noFill/>
          </a:ln>
        </p:spPr>
        <p:style>
          <a:lnRef idx="0"/>
          <a:fillRef idx="0"/>
          <a:effectRef idx="0"/>
          <a:fontRef idx="minor"/>
        </p:style>
        <p:txBody>
          <a:bodyPr lIns="0" rIns="0" tIns="0" bIns="0" anchor="t">
            <a:noAutofit/>
          </a:bodyPr>
          <a:p>
            <a:pPr algn="r">
              <a:lnSpc>
                <a:spcPct val="100000"/>
              </a:lnSpc>
            </a:pPr>
            <a:r>
              <a:rPr b="0" lang="en-US" sz="1250" spc="-1" strike="noStrike">
                <a:solidFill>
                  <a:srgbClr val="6e6368"/>
                </a:solidFill>
                <a:latin typeface="Calibri Light"/>
                <a:ea typeface="Calibri Light"/>
              </a:rPr>
              <a:t>4</a:t>
            </a:r>
            <a:endParaRPr b="0" lang="en-US" sz="1250" spc="-1" strike="noStrike">
              <a:solidFill>
                <a:srgbClr val="000000"/>
              </a:solidFill>
              <a:latin typeface="Arial"/>
            </a:endParaRPr>
          </a:p>
        </p:txBody>
      </p:sp>
      <p:sp>
        <p:nvSpPr>
          <p:cNvPr id="41" name=""/>
          <p:cNvSpPr/>
          <p:nvPr/>
        </p:nvSpPr>
        <p:spPr>
          <a:xfrm>
            <a:off x="838080" y="1209600"/>
            <a:ext cx="10515240" cy="875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400" spc="-1" strike="noStrike">
                <a:solidFill>
                  <a:srgbClr val="171717"/>
                </a:solidFill>
                <a:latin typeface="Calibri Light"/>
                <a:ea typeface="Calibri Light"/>
              </a:rPr>
              <a:t>Giao diện điều chỉnh cách sắp xếp và kích thước nội dung</a:t>
            </a:r>
            <a:endParaRPr b="0" lang="en-US" sz="2400" spc="-1" strike="noStrike">
              <a:solidFill>
                <a:srgbClr val="000000"/>
              </a:solidFill>
              <a:latin typeface="Arial"/>
            </a:endParaRPr>
          </a:p>
          <a:p>
            <a:pPr>
              <a:lnSpc>
                <a:spcPct val="100000"/>
              </a:lnSpc>
            </a:pPr>
            <a:r>
              <a:rPr b="0" lang="en-US" sz="2400" spc="-1" strike="noStrike">
                <a:solidFill>
                  <a:srgbClr val="171717"/>
                </a:solidFill>
                <a:latin typeface="Calibri Light"/>
                <a:ea typeface="Calibri Light"/>
              </a:rPr>
              <a:t>để phù hợp với không gian hiển thị.</a:t>
            </a:r>
            <a:endParaRPr b="0" lang="en-US" sz="2400" spc="-1" strike="noStrike">
              <a:solidFill>
                <a:srgbClr val="000000"/>
              </a:solidFill>
              <a:latin typeface="Arial"/>
            </a:endParaRPr>
          </a:p>
        </p:txBody>
      </p:sp>
      <p:sp>
        <p:nvSpPr>
          <p:cNvPr id="42" name=""/>
          <p:cNvSpPr/>
          <p:nvPr/>
        </p:nvSpPr>
        <p:spPr>
          <a:xfrm>
            <a:off x="838080" y="2381400"/>
            <a:ext cx="10515240" cy="456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400" spc="-1" strike="noStrike">
                <a:solidFill>
                  <a:srgbClr val="171717"/>
                </a:solidFill>
                <a:latin typeface="Calibri Light"/>
                <a:ea typeface="Calibri Light"/>
              </a:rPr>
              <a:t>Đặc điểm</a:t>
            </a:r>
            <a:endParaRPr b="0" lang="en-US" sz="2400" spc="-1" strike="noStrike">
              <a:solidFill>
                <a:srgbClr val="000000"/>
              </a:solidFill>
              <a:latin typeface="Arial"/>
            </a:endParaRPr>
          </a:p>
        </p:txBody>
      </p:sp>
      <p:sp>
        <p:nvSpPr>
          <p:cNvPr id="43" name=""/>
          <p:cNvSpPr/>
          <p:nvPr/>
        </p:nvSpPr>
        <p:spPr>
          <a:xfrm>
            <a:off x="838080" y="2971800"/>
            <a:ext cx="10515240" cy="2571480"/>
          </a:xfrm>
          <a:prstGeom prst="rect">
            <a:avLst/>
          </a:prstGeom>
          <a:noFill/>
          <a:ln w="0">
            <a:noFill/>
          </a:ln>
        </p:spPr>
        <p:style>
          <a:lnRef idx="0"/>
          <a:fillRef idx="0"/>
          <a:effectRef idx="0"/>
          <a:fontRef idx="minor"/>
        </p:style>
        <p:txBody>
          <a:bodyPr lIns="0" rIns="0" tIns="0" bIns="0" anchor="t">
            <a:noAutofit/>
          </a:bodyPr>
          <a:p>
            <a:pPr marL="228600" indent="-114480">
              <a:lnSpc>
                <a:spcPct val="100000"/>
              </a:lnSpc>
              <a:spcAft>
                <a:spcPts val="1400"/>
              </a:spcAft>
              <a:buClr>
                <a:srgbClr val="171717"/>
              </a:buClr>
              <a:buFont typeface="Symbol" charset="2"/>
              <a:buChar char=""/>
            </a:pPr>
            <a:r>
              <a:rPr b="0" lang="en-US" sz="2320" spc="-1" strike="noStrike">
                <a:solidFill>
                  <a:srgbClr val="171717"/>
                </a:solidFill>
                <a:latin typeface="Calibri Light"/>
                <a:ea typeface="Calibri Light"/>
              </a:rPr>
              <a:t>Bố cục co giãn theo chiều rộng và chiều cao khả dụng.</a:t>
            </a:r>
            <a:endParaRPr b="0" lang="en-US" sz="2320" spc="-1" strike="noStrike">
              <a:solidFill>
                <a:srgbClr val="000000"/>
              </a:solidFill>
              <a:latin typeface="Arial"/>
            </a:endParaRPr>
          </a:p>
          <a:p>
            <a:pPr marL="228600" indent="-114480">
              <a:lnSpc>
                <a:spcPct val="100000"/>
              </a:lnSpc>
              <a:spcAft>
                <a:spcPts val="1400"/>
              </a:spcAft>
              <a:buClr>
                <a:srgbClr val="171717"/>
              </a:buClr>
              <a:buFont typeface="Symbol" charset="2"/>
              <a:buChar char=""/>
            </a:pPr>
            <a:r>
              <a:rPr b="0" lang="en-US" sz="2320" spc="-1" strike="noStrike">
                <a:solidFill>
                  <a:srgbClr val="171717"/>
                </a:solidFill>
                <a:latin typeface="Calibri Light"/>
                <a:ea typeface="Calibri Light"/>
              </a:rPr>
              <a:t>Số cột, kích thước và khoảng cách thay đổi khi cần.</a:t>
            </a:r>
            <a:endParaRPr b="0" lang="en-US" sz="2320" spc="-1" strike="noStrike">
              <a:solidFill>
                <a:srgbClr val="000000"/>
              </a:solidFill>
              <a:latin typeface="Arial"/>
            </a:endParaRPr>
          </a:p>
          <a:p>
            <a:pPr marL="228600" indent="-114480">
              <a:lnSpc>
                <a:spcPct val="100000"/>
              </a:lnSpc>
              <a:spcAft>
                <a:spcPts val="1400"/>
              </a:spcAft>
              <a:buClr>
                <a:srgbClr val="171717"/>
              </a:buClr>
              <a:buFont typeface="Symbol" charset="2"/>
              <a:buChar char=""/>
            </a:pPr>
            <a:r>
              <a:rPr b="0" lang="en-US" sz="2320" spc="-1" strike="noStrike">
                <a:solidFill>
                  <a:srgbClr val="171717"/>
                </a:solidFill>
                <a:latin typeface="Calibri Light"/>
                <a:ea typeface="Calibri Light"/>
              </a:rPr>
              <a:t>Nội dung chính được giữ lại khi thay đổi cách sắp xếp.</a:t>
            </a:r>
            <a:endParaRPr b="0" lang="en-US" sz="2320" spc="-1" strike="noStrike">
              <a:solidFill>
                <a:srgbClr val="000000"/>
              </a:solidFill>
              <a:latin typeface="Arial"/>
            </a:endParaRPr>
          </a:p>
        </p:txBody>
      </p:sp>
      <p:sp>
        <p:nvSpPr>
          <p:cNvPr id="44" name=""/>
          <p:cNvSpPr/>
          <p:nvPr/>
        </p:nvSpPr>
        <p:spPr>
          <a:xfrm>
            <a:off x="838080" y="5467320"/>
            <a:ext cx="10515240" cy="7808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170" spc="-1" strike="noStrike">
                <a:solidFill>
                  <a:srgbClr val="171717"/>
                </a:solidFill>
                <a:latin typeface="Calibri Light"/>
                <a:ea typeface="Calibri Light"/>
              </a:rPr>
              <a:t>Ví dụ: cùng một danh sách có thể hiển thị 1, 2 hoặc 3 cột</a:t>
            </a:r>
            <a:endParaRPr b="0" lang="en-US" sz="2170" spc="-1" strike="noStrike">
              <a:solidFill>
                <a:srgbClr val="000000"/>
              </a:solidFill>
              <a:latin typeface="Arial"/>
            </a:endParaRPr>
          </a:p>
          <a:p>
            <a:pPr>
              <a:lnSpc>
                <a:spcPct val="100000"/>
              </a:lnSpc>
            </a:pPr>
            <a:r>
              <a:rPr b="0" lang="en-US" sz="2170" spc="-1" strike="noStrike">
                <a:solidFill>
                  <a:srgbClr val="171717"/>
                </a:solidFill>
                <a:latin typeface="Calibri Light"/>
                <a:ea typeface="Calibri Light"/>
              </a:rPr>
              <a:t>tùy theo chiều rộng vùng nội dung.</a:t>
            </a:r>
            <a:endParaRPr b="0" lang="en-US" sz="21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
          <p:cNvSpPr/>
          <p:nvPr/>
        </p:nvSpPr>
        <p:spPr>
          <a:xfrm>
            <a:off x="762120" y="380880"/>
            <a:ext cx="106675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3230" spc="-1" strike="noStrike">
                <a:solidFill>
                  <a:srgbClr val="171717"/>
                </a:solidFill>
                <a:latin typeface="Calibri Light"/>
                <a:ea typeface="Calibri Light"/>
              </a:rPr>
              <a:t>1.2. Adaptive UI</a:t>
            </a:r>
            <a:endParaRPr b="0" lang="en-US" sz="3230" spc="-1" strike="noStrike">
              <a:solidFill>
                <a:srgbClr val="000000"/>
              </a:solidFill>
              <a:latin typeface="Arial"/>
            </a:endParaRPr>
          </a:p>
        </p:txBody>
      </p:sp>
      <p:sp>
        <p:nvSpPr>
          <p:cNvPr id="46" name=""/>
          <p:cNvSpPr/>
          <p:nvPr/>
        </p:nvSpPr>
        <p:spPr>
          <a:xfrm>
            <a:off x="838080" y="6448320"/>
            <a:ext cx="952452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6e6368"/>
                </a:solidFill>
                <a:latin typeface="Calibri Light"/>
                <a:ea typeface="Calibri Light"/>
              </a:rPr>
              <a:t>Chủ đề 03: Responsive và Adaptive UI trong Flutter</a:t>
            </a:r>
            <a:endParaRPr b="0" lang="en-US" sz="1000" spc="-1" strike="noStrike">
              <a:solidFill>
                <a:srgbClr val="000000"/>
              </a:solidFill>
              <a:latin typeface="Arial"/>
            </a:endParaRPr>
          </a:p>
        </p:txBody>
      </p:sp>
      <p:sp>
        <p:nvSpPr>
          <p:cNvPr id="47" name=""/>
          <p:cNvSpPr/>
          <p:nvPr/>
        </p:nvSpPr>
        <p:spPr>
          <a:xfrm>
            <a:off x="10839600" y="6448320"/>
            <a:ext cx="514080" cy="209160"/>
          </a:xfrm>
          <a:prstGeom prst="rect">
            <a:avLst/>
          </a:prstGeom>
          <a:noFill/>
          <a:ln w="0">
            <a:noFill/>
          </a:ln>
        </p:spPr>
        <p:style>
          <a:lnRef idx="0"/>
          <a:fillRef idx="0"/>
          <a:effectRef idx="0"/>
          <a:fontRef idx="minor"/>
        </p:style>
        <p:txBody>
          <a:bodyPr lIns="0" rIns="0" tIns="0" bIns="0" anchor="t">
            <a:noAutofit/>
          </a:bodyPr>
          <a:p>
            <a:pPr algn="r">
              <a:lnSpc>
                <a:spcPct val="100000"/>
              </a:lnSpc>
            </a:pPr>
            <a:r>
              <a:rPr b="0" lang="en-US" sz="1250" spc="-1" strike="noStrike">
                <a:solidFill>
                  <a:srgbClr val="6e6368"/>
                </a:solidFill>
                <a:latin typeface="Calibri Light"/>
                <a:ea typeface="Calibri Light"/>
              </a:rPr>
              <a:t>5</a:t>
            </a:r>
            <a:endParaRPr b="0" lang="en-US" sz="1250" spc="-1" strike="noStrike">
              <a:solidFill>
                <a:srgbClr val="000000"/>
              </a:solidFill>
              <a:latin typeface="Arial"/>
            </a:endParaRPr>
          </a:p>
        </p:txBody>
      </p:sp>
      <p:sp>
        <p:nvSpPr>
          <p:cNvPr id="48" name=""/>
          <p:cNvSpPr/>
          <p:nvPr/>
        </p:nvSpPr>
        <p:spPr>
          <a:xfrm>
            <a:off x="838080" y="1209600"/>
            <a:ext cx="10515240" cy="875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400" spc="-1" strike="noStrike">
                <a:solidFill>
                  <a:srgbClr val="171717"/>
                </a:solidFill>
                <a:latin typeface="Calibri Light"/>
                <a:ea typeface="Calibri Light"/>
              </a:rPr>
              <a:t>Giao diện lựa chọn thành phần và cách tương tác phù hợp</a:t>
            </a:r>
            <a:endParaRPr b="0" lang="en-US" sz="2400" spc="-1" strike="noStrike">
              <a:solidFill>
                <a:srgbClr val="000000"/>
              </a:solidFill>
              <a:latin typeface="Arial"/>
            </a:endParaRPr>
          </a:p>
          <a:p>
            <a:pPr>
              <a:lnSpc>
                <a:spcPct val="100000"/>
              </a:lnSpc>
            </a:pPr>
            <a:r>
              <a:rPr b="0" lang="en-US" sz="2400" spc="-1" strike="noStrike">
                <a:solidFill>
                  <a:srgbClr val="171717"/>
                </a:solidFill>
                <a:latin typeface="Calibri Light"/>
                <a:ea typeface="Calibri Light"/>
              </a:rPr>
              <a:t>với không gian, môi trường sử dụng.</a:t>
            </a:r>
            <a:endParaRPr b="0" lang="en-US" sz="2400" spc="-1" strike="noStrike">
              <a:solidFill>
                <a:srgbClr val="000000"/>
              </a:solidFill>
              <a:latin typeface="Arial"/>
            </a:endParaRPr>
          </a:p>
        </p:txBody>
      </p:sp>
      <p:sp>
        <p:nvSpPr>
          <p:cNvPr id="49" name=""/>
          <p:cNvSpPr/>
          <p:nvPr/>
        </p:nvSpPr>
        <p:spPr>
          <a:xfrm>
            <a:off x="838080" y="2381400"/>
            <a:ext cx="10515240" cy="456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400" spc="-1" strike="noStrike">
                <a:solidFill>
                  <a:srgbClr val="171717"/>
                </a:solidFill>
                <a:latin typeface="Calibri Light"/>
                <a:ea typeface="Calibri Light"/>
              </a:rPr>
              <a:t>Đặc điểm</a:t>
            </a:r>
            <a:endParaRPr b="0" lang="en-US" sz="2400" spc="-1" strike="noStrike">
              <a:solidFill>
                <a:srgbClr val="000000"/>
              </a:solidFill>
              <a:latin typeface="Arial"/>
            </a:endParaRPr>
          </a:p>
        </p:txBody>
      </p:sp>
      <p:sp>
        <p:nvSpPr>
          <p:cNvPr id="50" name=""/>
          <p:cNvSpPr/>
          <p:nvPr/>
        </p:nvSpPr>
        <p:spPr>
          <a:xfrm>
            <a:off x="838080" y="2971800"/>
            <a:ext cx="10515240" cy="2571480"/>
          </a:xfrm>
          <a:prstGeom prst="rect">
            <a:avLst/>
          </a:prstGeom>
          <a:noFill/>
          <a:ln w="0">
            <a:noFill/>
          </a:ln>
        </p:spPr>
        <p:style>
          <a:lnRef idx="0"/>
          <a:fillRef idx="0"/>
          <a:effectRef idx="0"/>
          <a:fontRef idx="minor"/>
        </p:style>
        <p:txBody>
          <a:bodyPr lIns="0" rIns="0" tIns="0" bIns="0" anchor="t">
            <a:noAutofit/>
          </a:bodyPr>
          <a:p>
            <a:pPr marL="228600" indent="-114480">
              <a:lnSpc>
                <a:spcPct val="100000"/>
              </a:lnSpc>
              <a:spcAft>
                <a:spcPts val="1400"/>
              </a:spcAft>
              <a:buClr>
                <a:srgbClr val="171717"/>
              </a:buClr>
              <a:buFont typeface="Symbol" charset="2"/>
              <a:buChar char=""/>
            </a:pPr>
            <a:r>
              <a:rPr b="0" lang="en-US" sz="2320" spc="-1" strike="noStrike">
                <a:solidFill>
                  <a:srgbClr val="171717"/>
                </a:solidFill>
                <a:latin typeface="Calibri Light"/>
                <a:ea typeface="Calibri Light"/>
              </a:rPr>
              <a:t>Chọn bố cục hoặc thành phần giao diện phù hợp điều kiện hiển thị.</a:t>
            </a:r>
            <a:endParaRPr b="0" lang="en-US" sz="2320" spc="-1" strike="noStrike">
              <a:solidFill>
                <a:srgbClr val="000000"/>
              </a:solidFill>
              <a:latin typeface="Arial"/>
            </a:endParaRPr>
          </a:p>
          <a:p>
            <a:pPr marL="228600" indent="-114480">
              <a:lnSpc>
                <a:spcPct val="100000"/>
              </a:lnSpc>
              <a:spcAft>
                <a:spcPts val="1400"/>
              </a:spcAft>
              <a:buClr>
                <a:srgbClr val="171717"/>
              </a:buClr>
              <a:buFont typeface="Symbol" charset="2"/>
              <a:buChar char=""/>
            </a:pPr>
            <a:r>
              <a:rPr b="0" lang="en-US" sz="2320" spc="-1" strike="noStrike">
                <a:solidFill>
                  <a:srgbClr val="171717"/>
                </a:solidFill>
                <a:latin typeface="Calibri Light"/>
                <a:ea typeface="Calibri Light"/>
              </a:rPr>
              <a:t>Hỗ trợ cách thao tác bằng cảm ứng, chuột và bàn phím.</a:t>
            </a:r>
            <a:endParaRPr b="0" lang="en-US" sz="2320" spc="-1" strike="noStrike">
              <a:solidFill>
                <a:srgbClr val="000000"/>
              </a:solidFill>
              <a:latin typeface="Arial"/>
            </a:endParaRPr>
          </a:p>
          <a:p>
            <a:pPr marL="228600" indent="-114480">
              <a:lnSpc>
                <a:spcPct val="100000"/>
              </a:lnSpc>
              <a:spcAft>
                <a:spcPts val="1400"/>
              </a:spcAft>
              <a:buClr>
                <a:srgbClr val="171717"/>
              </a:buClr>
              <a:buFont typeface="Symbol" charset="2"/>
              <a:buChar char=""/>
            </a:pPr>
            <a:r>
              <a:rPr b="0" lang="en-US" sz="2320" spc="-1" strike="noStrike">
                <a:solidFill>
                  <a:srgbClr val="171717"/>
                </a:solidFill>
                <a:latin typeface="Calibri Light"/>
                <a:ea typeface="Calibri Light"/>
              </a:rPr>
              <a:t>Giữ chức năng nhất quán khi thay đổi cách trình bày.</a:t>
            </a:r>
            <a:endParaRPr b="0" lang="en-US" sz="2320" spc="-1" strike="noStrike">
              <a:solidFill>
                <a:srgbClr val="000000"/>
              </a:solidFill>
              <a:latin typeface="Arial"/>
            </a:endParaRPr>
          </a:p>
        </p:txBody>
      </p:sp>
      <p:sp>
        <p:nvSpPr>
          <p:cNvPr id="51" name=""/>
          <p:cNvSpPr/>
          <p:nvPr/>
        </p:nvSpPr>
        <p:spPr>
          <a:xfrm>
            <a:off x="838080" y="5467320"/>
            <a:ext cx="10515240" cy="7808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170" spc="-1" strike="noStrike">
                <a:solidFill>
                  <a:srgbClr val="171717"/>
                </a:solidFill>
                <a:latin typeface="Calibri Light"/>
                <a:ea typeface="Calibri Light"/>
              </a:rPr>
              <a:t>Ví dụ: điều hướng có thể nằm dưới ở vùng hẹp</a:t>
            </a:r>
            <a:endParaRPr b="0" lang="en-US" sz="2170" spc="-1" strike="noStrike">
              <a:solidFill>
                <a:srgbClr val="000000"/>
              </a:solidFill>
              <a:latin typeface="Arial"/>
            </a:endParaRPr>
          </a:p>
          <a:p>
            <a:pPr>
              <a:lnSpc>
                <a:spcPct val="100000"/>
              </a:lnSpc>
            </a:pPr>
            <a:r>
              <a:rPr b="0" lang="en-US" sz="2170" spc="-1" strike="noStrike">
                <a:solidFill>
                  <a:srgbClr val="171717"/>
                </a:solidFill>
                <a:latin typeface="Calibri Light"/>
                <a:ea typeface="Calibri Light"/>
              </a:rPr>
              <a:t>và chuyển sang bên cạnh khi có thêm chiều rộng.</a:t>
            </a:r>
            <a:endParaRPr b="0" lang="en-US" sz="21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 name=""/>
          <p:cNvSpPr/>
          <p:nvPr/>
        </p:nvSpPr>
        <p:spPr>
          <a:xfrm>
            <a:off x="762120" y="380880"/>
            <a:ext cx="106675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3230" spc="-1" strike="noStrike">
                <a:solidFill>
                  <a:srgbClr val="171717"/>
                </a:solidFill>
                <a:latin typeface="Calibri Light"/>
                <a:ea typeface="Calibri Light"/>
              </a:rPr>
              <a:t>1.3. So sánh Responsive và Adaptive</a:t>
            </a:r>
            <a:endParaRPr b="0" lang="en-US" sz="3230" spc="-1" strike="noStrike">
              <a:solidFill>
                <a:srgbClr val="000000"/>
              </a:solidFill>
              <a:latin typeface="Arial"/>
            </a:endParaRPr>
          </a:p>
        </p:txBody>
      </p:sp>
      <p:sp>
        <p:nvSpPr>
          <p:cNvPr id="53" name=""/>
          <p:cNvSpPr/>
          <p:nvPr/>
        </p:nvSpPr>
        <p:spPr>
          <a:xfrm>
            <a:off x="838080" y="6448320"/>
            <a:ext cx="952452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6e6368"/>
                </a:solidFill>
                <a:latin typeface="Calibri Light"/>
                <a:ea typeface="Calibri Light"/>
              </a:rPr>
              <a:t>Chủ đề 03: Responsive và Adaptive UI trong Flutter</a:t>
            </a:r>
            <a:endParaRPr b="0" lang="en-US" sz="1000" spc="-1" strike="noStrike">
              <a:solidFill>
                <a:srgbClr val="000000"/>
              </a:solidFill>
              <a:latin typeface="Arial"/>
            </a:endParaRPr>
          </a:p>
        </p:txBody>
      </p:sp>
      <p:sp>
        <p:nvSpPr>
          <p:cNvPr id="54" name=""/>
          <p:cNvSpPr/>
          <p:nvPr/>
        </p:nvSpPr>
        <p:spPr>
          <a:xfrm>
            <a:off x="10839600" y="6448320"/>
            <a:ext cx="514080" cy="209160"/>
          </a:xfrm>
          <a:prstGeom prst="rect">
            <a:avLst/>
          </a:prstGeom>
          <a:noFill/>
          <a:ln w="0">
            <a:noFill/>
          </a:ln>
        </p:spPr>
        <p:style>
          <a:lnRef idx="0"/>
          <a:fillRef idx="0"/>
          <a:effectRef idx="0"/>
          <a:fontRef idx="minor"/>
        </p:style>
        <p:txBody>
          <a:bodyPr lIns="0" rIns="0" tIns="0" bIns="0" anchor="t">
            <a:noAutofit/>
          </a:bodyPr>
          <a:p>
            <a:pPr algn="r">
              <a:lnSpc>
                <a:spcPct val="100000"/>
              </a:lnSpc>
            </a:pPr>
            <a:r>
              <a:rPr b="0" lang="en-US" sz="1250" spc="-1" strike="noStrike">
                <a:solidFill>
                  <a:srgbClr val="6e6368"/>
                </a:solidFill>
                <a:latin typeface="Calibri Light"/>
                <a:ea typeface="Calibri Light"/>
              </a:rPr>
              <a:t>6</a:t>
            </a:r>
            <a:endParaRPr b="0" lang="en-US" sz="1250" spc="-1" strike="noStrike">
              <a:solidFill>
                <a:srgbClr val="000000"/>
              </a:solidFill>
              <a:latin typeface="Arial"/>
            </a:endParaRPr>
          </a:p>
        </p:txBody>
      </p:sp>
      <p:graphicFrame>
        <p:nvGraphicFramePr>
          <p:cNvPr id="55" name=""/>
          <p:cNvGraphicFramePr/>
          <p:nvPr/>
        </p:nvGraphicFramePr>
        <p:xfrm>
          <a:off x="838080" y="1542960"/>
          <a:ext cx="10515240" cy="3771720"/>
        </p:xfrm>
        <a:graphic>
          <a:graphicData uri="http://schemas.openxmlformats.org/drawingml/2006/table">
            <a:tbl>
              <a:tblPr/>
              <a:tblGrid>
                <a:gridCol w="2190600"/>
                <a:gridCol w="4162320"/>
                <a:gridCol w="4162320"/>
              </a:tblGrid>
              <a:tr h="628560">
                <a:tc>
                  <a:txBody>
                    <a:bodyPr anchor="ctr">
                      <a:noAutofit/>
                    </a:bodyPr>
                    <a:p>
                      <a:pPr>
                        <a:lnSpc>
                          <a:spcPct val="100000"/>
                        </a:lnSpc>
                      </a:pPr>
                      <a:r>
                        <a:rPr b="1" lang="en-US" sz="2100" spc="-1" strike="noStrike">
                          <a:solidFill>
                            <a:srgbClr val="ffffff"/>
                          </a:solidFill>
                          <a:latin typeface="Calibri Light"/>
                          <a:ea typeface="Calibri Light"/>
                        </a:rPr>
                        <a:t>TIÊU CHÍ</a:t>
                      </a:r>
                      <a:endParaRPr b="0" lang="en-US" sz="2100" spc="-1" strike="noStrike">
                        <a:solidFill>
                          <a:srgbClr val="ffffff"/>
                        </a:solidFill>
                        <a:latin typeface="Arial"/>
                      </a:endParaRPr>
                    </a:p>
                  </a:txBody>
                  <a:tcPr anchor="ctr" marL="91440" marR="91440">
                    <a:lnL w="14400">
                      <a:solidFill>
                        <a:srgbClr val="ffffff"/>
                      </a:solidFill>
                      <a:prstDash val="solid"/>
                    </a:lnL>
                    <a:lnR w="14400">
                      <a:solidFill>
                        <a:srgbClr val="ffffff"/>
                      </a:solidFill>
                      <a:prstDash val="solid"/>
                    </a:lnR>
                    <a:lnT w="14400">
                      <a:solidFill>
                        <a:srgbClr val="ffffff"/>
                      </a:solidFill>
                      <a:prstDash val="solid"/>
                    </a:lnT>
                    <a:lnB w="14400">
                      <a:solidFill>
                        <a:srgbClr val="ffffff"/>
                      </a:solidFill>
                      <a:prstDash val="solid"/>
                    </a:lnB>
                    <a:solidFill>
                      <a:srgbClr val="4472c4"/>
                    </a:solidFill>
                  </a:tcPr>
                </a:tc>
                <a:tc>
                  <a:txBody>
                    <a:bodyPr anchor="ctr">
                      <a:noAutofit/>
                    </a:bodyPr>
                    <a:p>
                      <a:pPr>
                        <a:lnSpc>
                          <a:spcPct val="100000"/>
                        </a:lnSpc>
                      </a:pPr>
                      <a:r>
                        <a:rPr b="1" lang="en-US" sz="2100" spc="-1" strike="noStrike">
                          <a:solidFill>
                            <a:srgbClr val="ffffff"/>
                          </a:solidFill>
                          <a:latin typeface="Calibri Light"/>
                          <a:ea typeface="Calibri Light"/>
                        </a:rPr>
                        <a:t>RESPONSIVE</a:t>
                      </a:r>
                      <a:endParaRPr b="0" lang="en-US" sz="2100" spc="-1" strike="noStrike">
                        <a:solidFill>
                          <a:srgbClr val="ffffff"/>
                        </a:solidFill>
                        <a:latin typeface="Arial"/>
                      </a:endParaRPr>
                    </a:p>
                  </a:txBody>
                  <a:tcPr anchor="ctr" marL="91440" marR="91440">
                    <a:lnL w="12240">
                      <a:solidFill>
                        <a:srgbClr val="000000"/>
                      </a:solidFill>
                      <a:prstDash val="solid"/>
                    </a:lnL>
                    <a:lnR w="14400">
                      <a:solidFill>
                        <a:srgbClr val="ffffff"/>
                      </a:solidFill>
                      <a:prstDash val="solid"/>
                    </a:lnR>
                    <a:lnT w="14400">
                      <a:solidFill>
                        <a:srgbClr val="ffffff"/>
                      </a:solidFill>
                      <a:prstDash val="solid"/>
                    </a:lnT>
                    <a:lnB w="14400">
                      <a:solidFill>
                        <a:srgbClr val="ffffff"/>
                      </a:solidFill>
                      <a:prstDash val="solid"/>
                    </a:lnB>
                    <a:solidFill>
                      <a:srgbClr val="4472c4"/>
                    </a:solidFill>
                  </a:tcPr>
                </a:tc>
                <a:tc>
                  <a:txBody>
                    <a:bodyPr anchor="ctr">
                      <a:noAutofit/>
                    </a:bodyPr>
                    <a:p>
                      <a:pPr>
                        <a:lnSpc>
                          <a:spcPct val="100000"/>
                        </a:lnSpc>
                      </a:pPr>
                      <a:r>
                        <a:rPr b="1" lang="en-US" sz="2100" spc="-1" strike="noStrike">
                          <a:solidFill>
                            <a:srgbClr val="ffffff"/>
                          </a:solidFill>
                          <a:latin typeface="Calibri Light"/>
                          <a:ea typeface="Calibri Light"/>
                        </a:rPr>
                        <a:t>ADAPTIVE</a:t>
                      </a:r>
                      <a:endParaRPr b="0" lang="en-US" sz="2100" spc="-1" strike="noStrike">
                        <a:solidFill>
                          <a:srgbClr val="ffffff"/>
                        </a:solidFill>
                        <a:latin typeface="Arial"/>
                      </a:endParaRPr>
                    </a:p>
                  </a:txBody>
                  <a:tcPr anchor="ctr" marL="91440" marR="91440">
                    <a:lnL w="12240">
                      <a:solidFill>
                        <a:srgbClr val="000000"/>
                      </a:solidFill>
                      <a:prstDash val="solid"/>
                    </a:lnL>
                    <a:lnR w="14400">
                      <a:solidFill>
                        <a:srgbClr val="ffffff"/>
                      </a:solidFill>
                      <a:prstDash val="solid"/>
                    </a:lnR>
                    <a:lnT w="14400">
                      <a:solidFill>
                        <a:srgbClr val="ffffff"/>
                      </a:solidFill>
                      <a:prstDash val="solid"/>
                    </a:lnT>
                    <a:lnB w="14400">
                      <a:solidFill>
                        <a:srgbClr val="ffffff"/>
                      </a:solidFill>
                      <a:prstDash val="solid"/>
                    </a:lnB>
                    <a:solidFill>
                      <a:srgbClr val="4472c4"/>
                    </a:solidFill>
                  </a:tcPr>
                </a:tc>
              </a:tr>
              <a:tr h="1047600">
                <a:tc>
                  <a:txBody>
                    <a:bodyPr anchor="ctr">
                      <a:noAutofit/>
                    </a:bodyPr>
                    <a:p>
                      <a:pPr>
                        <a:lnSpc>
                          <a:spcPct val="100000"/>
                        </a:lnSpc>
                      </a:pPr>
                      <a:r>
                        <a:rPr b="0" lang="en-US" sz="2100" spc="-1" strike="noStrike">
                          <a:solidFill>
                            <a:srgbClr val="171717"/>
                          </a:solidFill>
                          <a:latin typeface="Calibri Light"/>
                          <a:ea typeface="Calibri Light"/>
                        </a:rPr>
                        <a:t>Trọng tâm</a:t>
                      </a:r>
                      <a:endParaRPr b="0" lang="en-US" sz="210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00" spc="-1" strike="noStrike">
                          <a:solidFill>
                            <a:srgbClr val="171717"/>
                          </a:solidFill>
                          <a:latin typeface="Calibri Light"/>
                          <a:ea typeface="Calibri Light"/>
                        </a:rPr>
                        <a:t>Nội dung vừa không gian</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00" spc="-1" strike="noStrike">
                          <a:solidFill>
                            <a:srgbClr val="171717"/>
                          </a:solidFill>
                          <a:latin typeface="Calibri Light"/>
                          <a:ea typeface="Calibri Light"/>
                        </a:rPr>
                        <a:t>Cách sử dụng phù hợp</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r>
              <a:tr h="1047600">
                <a:tc>
                  <a:txBody>
                    <a:bodyPr anchor="ctr">
                      <a:noAutofit/>
                    </a:bodyPr>
                    <a:p>
                      <a:pPr>
                        <a:lnSpc>
                          <a:spcPct val="100000"/>
                        </a:lnSpc>
                      </a:pPr>
                      <a:r>
                        <a:rPr b="0" lang="en-US" sz="2100" spc="-1" strike="noStrike">
                          <a:solidFill>
                            <a:srgbClr val="171717"/>
                          </a:solidFill>
                          <a:latin typeface="Calibri Light"/>
                          <a:ea typeface="Calibri Light"/>
                        </a:rPr>
                        <a:t>Điều chỉnh</a:t>
                      </a:r>
                      <a:endParaRPr b="0" lang="en-US" sz="210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e9ecf5"/>
                    </a:solidFill>
                  </a:tcPr>
                </a:tc>
                <a:tc>
                  <a:txBody>
                    <a:bodyPr anchor="ctr">
                      <a:noAutofit/>
                    </a:bodyPr>
                    <a:p>
                      <a:pPr>
                        <a:lnSpc>
                          <a:spcPct val="100000"/>
                        </a:lnSpc>
                      </a:pPr>
                      <a:r>
                        <a:rPr b="0" lang="en-US" sz="2100" spc="-1" strike="noStrike">
                          <a:solidFill>
                            <a:srgbClr val="171717"/>
                          </a:solidFill>
                          <a:latin typeface="Calibri Light"/>
                          <a:ea typeface="Calibri Light"/>
                        </a:rPr>
                        <a:t>Kích thước và vị trí</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e9ecf5"/>
                    </a:solidFill>
                  </a:tcPr>
                </a:tc>
                <a:tc>
                  <a:txBody>
                    <a:bodyPr anchor="ctr">
                      <a:noAutofit/>
                    </a:bodyPr>
                    <a:p>
                      <a:pPr>
                        <a:lnSpc>
                          <a:spcPct val="100000"/>
                        </a:lnSpc>
                      </a:pPr>
                      <a:r>
                        <a:rPr b="0" lang="en-US" sz="2100" spc="-1" strike="noStrike">
                          <a:solidFill>
                            <a:srgbClr val="171717"/>
                          </a:solidFill>
                          <a:latin typeface="Calibri Light"/>
                          <a:ea typeface="Calibri Light"/>
                        </a:rPr>
                        <a:t>Bố cục, thành phần, tương tác</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e9ecf5"/>
                    </a:solidFill>
                  </a:tcPr>
                </a:tc>
              </a:tr>
              <a:tr h="1047600">
                <a:tc>
                  <a:txBody>
                    <a:bodyPr anchor="ctr">
                      <a:noAutofit/>
                    </a:bodyPr>
                    <a:p>
                      <a:pPr>
                        <a:lnSpc>
                          <a:spcPct val="100000"/>
                        </a:lnSpc>
                      </a:pPr>
                      <a:r>
                        <a:rPr b="0" lang="en-US" sz="2100" spc="-1" strike="noStrike">
                          <a:solidFill>
                            <a:srgbClr val="171717"/>
                          </a:solidFill>
                          <a:latin typeface="Calibri Light"/>
                          <a:ea typeface="Calibri Light"/>
                        </a:rPr>
                        <a:t>Ví dụ</a:t>
                      </a:r>
                      <a:endParaRPr b="0" lang="en-US" sz="210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00" spc="-1" strike="noStrike">
                          <a:solidFill>
                            <a:srgbClr val="171717"/>
                          </a:solidFill>
                          <a:latin typeface="Calibri Light"/>
                          <a:ea typeface="Calibri Light"/>
                        </a:rPr>
                        <a:t>Lưới đổi từ 1 sang nhiều cột</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00" spc="-1" strike="noStrike">
                          <a:solidFill>
                            <a:srgbClr val="171717"/>
                          </a:solidFill>
                          <a:latin typeface="Calibri Light"/>
                          <a:ea typeface="Calibri Light"/>
                        </a:rPr>
                        <a:t>Thanh dưới đổi sang thanh bên</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r>
            </a:tbl>
          </a:graphicData>
        </a:graphic>
      </p:graphicFrame>
      <p:sp>
        <p:nvSpPr>
          <p:cNvPr id="56" name=""/>
          <p:cNvSpPr/>
          <p:nvPr/>
        </p:nvSpPr>
        <p:spPr>
          <a:xfrm>
            <a:off x="838080" y="5648400"/>
            <a:ext cx="10515240" cy="5234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250" spc="-1" strike="noStrike">
                <a:solidFill>
                  <a:srgbClr val="171717"/>
                </a:solidFill>
                <a:latin typeface="Calibri Light"/>
                <a:ea typeface="Calibri Light"/>
              </a:rPr>
              <a:t>Hai cách có thể cùng xuất hiện trong một ứng dụng.</a:t>
            </a:r>
            <a:endParaRPr b="0" lang="en-US" sz="2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 name=""/>
          <p:cNvSpPr/>
          <p:nvPr/>
        </p:nvSpPr>
        <p:spPr>
          <a:xfrm>
            <a:off x="762120" y="380880"/>
            <a:ext cx="106675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3230" spc="-1" strike="noStrike">
                <a:solidFill>
                  <a:srgbClr val="171717"/>
                </a:solidFill>
                <a:latin typeface="Calibri Light"/>
                <a:ea typeface="Calibri Light"/>
              </a:rPr>
              <a:t>2.1. MediaQuery</a:t>
            </a:r>
            <a:endParaRPr b="0" lang="en-US" sz="3230" spc="-1" strike="noStrike">
              <a:solidFill>
                <a:srgbClr val="000000"/>
              </a:solidFill>
              <a:latin typeface="Arial"/>
            </a:endParaRPr>
          </a:p>
        </p:txBody>
      </p:sp>
      <p:sp>
        <p:nvSpPr>
          <p:cNvPr id="58" name=""/>
          <p:cNvSpPr/>
          <p:nvPr/>
        </p:nvSpPr>
        <p:spPr>
          <a:xfrm>
            <a:off x="838080" y="6448320"/>
            <a:ext cx="952452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6e6368"/>
                </a:solidFill>
                <a:latin typeface="Calibri Light"/>
                <a:ea typeface="Calibri Light"/>
              </a:rPr>
              <a:t>Chủ đề 03: Responsive và Adaptive UI trong Flutter</a:t>
            </a:r>
            <a:endParaRPr b="0" lang="en-US" sz="1000" spc="-1" strike="noStrike">
              <a:solidFill>
                <a:srgbClr val="000000"/>
              </a:solidFill>
              <a:latin typeface="Arial"/>
            </a:endParaRPr>
          </a:p>
        </p:txBody>
      </p:sp>
      <p:sp>
        <p:nvSpPr>
          <p:cNvPr id="59" name=""/>
          <p:cNvSpPr/>
          <p:nvPr/>
        </p:nvSpPr>
        <p:spPr>
          <a:xfrm>
            <a:off x="10839600" y="6448320"/>
            <a:ext cx="514080" cy="209160"/>
          </a:xfrm>
          <a:prstGeom prst="rect">
            <a:avLst/>
          </a:prstGeom>
          <a:noFill/>
          <a:ln w="0">
            <a:noFill/>
          </a:ln>
        </p:spPr>
        <p:style>
          <a:lnRef idx="0"/>
          <a:fillRef idx="0"/>
          <a:effectRef idx="0"/>
          <a:fontRef idx="minor"/>
        </p:style>
        <p:txBody>
          <a:bodyPr lIns="0" rIns="0" tIns="0" bIns="0" anchor="t">
            <a:noAutofit/>
          </a:bodyPr>
          <a:p>
            <a:pPr algn="r">
              <a:lnSpc>
                <a:spcPct val="100000"/>
              </a:lnSpc>
            </a:pPr>
            <a:r>
              <a:rPr b="0" lang="en-US" sz="1250" spc="-1" strike="noStrike">
                <a:solidFill>
                  <a:srgbClr val="6e6368"/>
                </a:solidFill>
                <a:latin typeface="Calibri Light"/>
                <a:ea typeface="Calibri Light"/>
              </a:rPr>
              <a:t>7</a:t>
            </a:r>
            <a:endParaRPr b="0" lang="en-US" sz="1250" spc="-1" strike="noStrike">
              <a:solidFill>
                <a:srgbClr val="000000"/>
              </a:solidFill>
              <a:latin typeface="Arial"/>
            </a:endParaRPr>
          </a:p>
        </p:txBody>
      </p:sp>
      <p:sp>
        <p:nvSpPr>
          <p:cNvPr id="60" name=""/>
          <p:cNvSpPr/>
          <p:nvPr/>
        </p:nvSpPr>
        <p:spPr>
          <a:xfrm>
            <a:off x="838080" y="1257480"/>
            <a:ext cx="10515240" cy="2190240"/>
          </a:xfrm>
          <a:prstGeom prst="rect">
            <a:avLst/>
          </a:prstGeom>
          <a:noFill/>
          <a:ln w="0">
            <a:noFill/>
          </a:ln>
        </p:spPr>
        <p:style>
          <a:lnRef idx="0"/>
          <a:fillRef idx="0"/>
          <a:effectRef idx="0"/>
          <a:fontRef idx="minor"/>
        </p:style>
        <p:txBody>
          <a:bodyPr lIns="0" rIns="0" tIns="0" bIns="0" anchor="t">
            <a:noAutofit/>
          </a:bodyPr>
          <a:p>
            <a:pPr marL="228600" indent="-114480">
              <a:lnSpc>
                <a:spcPct val="100000"/>
              </a:lnSpc>
              <a:spcAft>
                <a:spcPts val="1199"/>
              </a:spcAft>
              <a:buClr>
                <a:srgbClr val="171717"/>
              </a:buClr>
              <a:buFont typeface="Symbol" charset="2"/>
              <a:buChar char=""/>
            </a:pPr>
            <a:r>
              <a:rPr b="0" lang="en-US" sz="2250" spc="-1" strike="noStrike">
                <a:solidFill>
                  <a:srgbClr val="171717"/>
                </a:solidFill>
                <a:latin typeface="Calibri Light"/>
                <a:ea typeface="Calibri Light"/>
              </a:rPr>
              <a:t>Lấy kích thước cửa sổ hoặc view qua context.</a:t>
            </a:r>
            <a:endParaRPr b="0" lang="en-US" sz="2250" spc="-1" strike="noStrike">
              <a:solidFill>
                <a:srgbClr val="000000"/>
              </a:solidFill>
              <a:latin typeface="Arial"/>
            </a:endParaRPr>
          </a:p>
          <a:p>
            <a:pPr marL="228600" indent="-114480">
              <a:lnSpc>
                <a:spcPct val="100000"/>
              </a:lnSpc>
              <a:spcAft>
                <a:spcPts val="1199"/>
              </a:spcAft>
              <a:buClr>
                <a:srgbClr val="171717"/>
              </a:buClr>
              <a:buFont typeface="Symbol" charset="2"/>
              <a:buChar char=""/>
            </a:pPr>
            <a:r>
              <a:rPr b="0" lang="en-US" sz="2250" spc="-1" strike="noStrike">
                <a:solidFill>
                  <a:srgbClr val="171717"/>
                </a:solidFill>
                <a:latin typeface="Calibri Light"/>
                <a:ea typeface="Calibri Light"/>
              </a:rPr>
              <a:t>Đọc vùng an toàn và phần giao diện bị che bởi bàn phím.</a:t>
            </a:r>
            <a:endParaRPr b="0" lang="en-US" sz="2250" spc="-1" strike="noStrike">
              <a:solidFill>
                <a:srgbClr val="000000"/>
              </a:solidFill>
              <a:latin typeface="Arial"/>
            </a:endParaRPr>
          </a:p>
          <a:p>
            <a:pPr marL="228600" indent="-114480">
              <a:lnSpc>
                <a:spcPct val="100000"/>
              </a:lnSpc>
              <a:spcAft>
                <a:spcPts val="1199"/>
              </a:spcAft>
              <a:buClr>
                <a:srgbClr val="171717"/>
              </a:buClr>
              <a:buFont typeface="Symbol" charset="2"/>
              <a:buChar char=""/>
            </a:pPr>
            <a:r>
              <a:rPr b="0" lang="en-US" sz="2250" spc="-1" strike="noStrike">
                <a:solidFill>
                  <a:srgbClr val="171717"/>
                </a:solidFill>
                <a:latin typeface="Calibri Light"/>
                <a:ea typeface="Calibri Light"/>
              </a:rPr>
              <a:t>sizeOf giúp widget cập nhật khi kích thước view thay đổi.</a:t>
            </a:r>
            <a:endParaRPr b="0" lang="en-US" sz="2250" spc="-1" strike="noStrike">
              <a:solidFill>
                <a:srgbClr val="000000"/>
              </a:solidFill>
              <a:latin typeface="Arial"/>
            </a:endParaRPr>
          </a:p>
        </p:txBody>
      </p:sp>
      <p:sp>
        <p:nvSpPr>
          <p:cNvPr id="61" name=""/>
          <p:cNvSpPr/>
          <p:nvPr/>
        </p:nvSpPr>
        <p:spPr>
          <a:xfrm>
            <a:off x="838080" y="3610080"/>
            <a:ext cx="10515240" cy="2057040"/>
          </a:xfrm>
          <a:prstGeom prst="rect">
            <a:avLst/>
          </a:prstGeom>
          <a:solidFill>
            <a:srgbClr val="252a30"/>
          </a:solidFill>
          <a:ln w="0">
            <a:noFill/>
          </a:ln>
        </p:spPr>
        <p:style>
          <a:lnRef idx="0"/>
          <a:fillRef idx="0"/>
          <a:effectRef idx="0"/>
          <a:fontRef idx="minor"/>
        </p:style>
        <p:txBody>
          <a:bodyPr wrap="none" lIns="209520" rIns="209520" tIns="209520" bIns="209520" anchor="t">
            <a:noAutofit/>
          </a:bodyPr>
          <a:p>
            <a:pPr>
              <a:lnSpc>
                <a:spcPct val="100000"/>
              </a:lnSpc>
            </a:pPr>
            <a:r>
              <a:rPr b="0" lang="en-US" sz="2100" spc="-1" strike="noStrike">
                <a:solidFill>
                  <a:srgbClr val="c792ea"/>
                </a:solidFill>
                <a:latin typeface="Arial"/>
                <a:ea typeface="Arial"/>
              </a:rPr>
              <a:t>final </a:t>
            </a:r>
            <a:r>
              <a:rPr b="0" lang="en-US" sz="2100" spc="-1" strike="noStrike">
                <a:solidFill>
                  <a:srgbClr val="edeff3"/>
                </a:solidFill>
                <a:latin typeface="Arial"/>
                <a:ea typeface="Arial"/>
              </a:rPr>
              <a:t>size = </a:t>
            </a:r>
            <a:r>
              <a:rPr b="0" lang="en-US" sz="2100" spc="-1" strike="noStrike">
                <a:solidFill>
                  <a:srgbClr val="82aaff"/>
                </a:solidFill>
                <a:latin typeface="Arial"/>
                <a:ea typeface="Arial"/>
              </a:rPr>
              <a:t>MediaQuery</a:t>
            </a:r>
            <a:r>
              <a:rPr b="0" lang="en-US" sz="2100" spc="-1" strike="noStrike">
                <a:solidFill>
                  <a:srgbClr val="edeff3"/>
                </a:solidFill>
                <a:latin typeface="Arial"/>
                <a:ea typeface="Arial"/>
              </a:rPr>
              <a:t>.sizeOf(context);</a:t>
            </a:r>
            <a:endParaRPr b="0" lang="en-US" sz="2100" spc="-1" strike="noStrike">
              <a:solidFill>
                <a:srgbClr val="ffffff"/>
              </a:solidFill>
              <a:latin typeface="Arial"/>
            </a:endParaRPr>
          </a:p>
          <a:p>
            <a:pPr>
              <a:lnSpc>
                <a:spcPct val="100000"/>
              </a:lnSpc>
            </a:pPr>
            <a:r>
              <a:rPr b="0" lang="en-US" sz="2100" spc="-1" strike="noStrike">
                <a:solidFill>
                  <a:srgbClr val="edeff3"/>
                </a:solidFill>
                <a:latin typeface="Arial"/>
                <a:ea typeface="Arial"/>
              </a:rPr>
              <a:t>final width = size.width;</a:t>
            </a:r>
            <a:endParaRPr b="0" lang="en-US" sz="2100" spc="-1" strike="noStrike">
              <a:solidFill>
                <a:srgbClr val="ffffff"/>
              </a:solidFill>
              <a:latin typeface="Arial"/>
            </a:endParaRPr>
          </a:p>
          <a:p>
            <a:pPr>
              <a:lnSpc>
                <a:spcPct val="100000"/>
              </a:lnSpc>
            </a:pPr>
            <a:r>
              <a:rPr b="0" lang="en-US" sz="2100" spc="-1" strike="noStrike">
                <a:solidFill>
                  <a:srgbClr val="edeff3"/>
                </a:solidFill>
                <a:latin typeface="Arial"/>
                <a:ea typeface="Arial"/>
              </a:rPr>
              <a:t>final height = size.height;</a:t>
            </a:r>
            <a:endParaRPr b="0" lang="en-US" sz="2100" spc="-1" strike="noStrike">
              <a:solidFill>
                <a:srgbClr val="ffffff"/>
              </a:solidFill>
              <a:latin typeface="Arial"/>
            </a:endParaRPr>
          </a:p>
          <a:p>
            <a:pPr>
              <a:lnSpc>
                <a:spcPct val="100000"/>
              </a:lnSpc>
            </a:pPr>
            <a:endParaRPr b="0" lang="en-US" sz="2100" spc="-1" strike="noStrike">
              <a:solidFill>
                <a:srgbClr val="ffffff"/>
              </a:solidFill>
              <a:latin typeface="Arial"/>
            </a:endParaRPr>
          </a:p>
          <a:p>
            <a:pPr>
              <a:lnSpc>
                <a:spcPct val="100000"/>
              </a:lnSpc>
            </a:pPr>
            <a:r>
              <a:rPr b="0" lang="en-US" sz="2100" spc="-1" strike="noStrike">
                <a:solidFill>
                  <a:srgbClr val="edeff3"/>
                </a:solidFill>
                <a:latin typeface="Arial"/>
                <a:ea typeface="Arial"/>
              </a:rPr>
              <a:t>final insets = MediaQuery.viewInsetsOf(context);</a:t>
            </a:r>
            <a:endParaRPr b="0" lang="en-US" sz="2100" spc="-1" strike="noStrike">
              <a:solidFill>
                <a:srgbClr val="ffffff"/>
              </a:solidFill>
              <a:latin typeface="Arial"/>
            </a:endParaRPr>
          </a:p>
        </p:txBody>
      </p:sp>
      <p:sp>
        <p:nvSpPr>
          <p:cNvPr id="62" name=""/>
          <p:cNvSpPr/>
          <p:nvPr/>
        </p:nvSpPr>
        <p:spPr>
          <a:xfrm>
            <a:off x="838080" y="5905440"/>
            <a:ext cx="10515240" cy="399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950" spc="-1" strike="noStrike">
                <a:solidFill>
                  <a:srgbClr val="6e6368"/>
                </a:solidFill>
                <a:latin typeface="Calibri Light"/>
                <a:ea typeface="Calibri Light"/>
              </a:rPr>
              <a:t>Kích thước dùng logical pixels, độc lập với mật độ điểm ảnh.</a:t>
            </a:r>
            <a:endParaRPr b="0" lang="en-US" sz="1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 name=""/>
          <p:cNvSpPr/>
          <p:nvPr/>
        </p:nvSpPr>
        <p:spPr>
          <a:xfrm>
            <a:off x="762120" y="380880"/>
            <a:ext cx="106675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3230" spc="-1" strike="noStrike">
                <a:solidFill>
                  <a:srgbClr val="171717"/>
                </a:solidFill>
                <a:latin typeface="Calibri Light"/>
                <a:ea typeface="Calibri Light"/>
              </a:rPr>
              <a:t>2.2. LayoutBuilder</a:t>
            </a:r>
            <a:endParaRPr b="0" lang="en-US" sz="3230" spc="-1" strike="noStrike">
              <a:solidFill>
                <a:srgbClr val="000000"/>
              </a:solidFill>
              <a:latin typeface="Arial"/>
            </a:endParaRPr>
          </a:p>
        </p:txBody>
      </p:sp>
      <p:sp>
        <p:nvSpPr>
          <p:cNvPr id="64" name=""/>
          <p:cNvSpPr/>
          <p:nvPr/>
        </p:nvSpPr>
        <p:spPr>
          <a:xfrm>
            <a:off x="838080" y="6448320"/>
            <a:ext cx="952452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6e6368"/>
                </a:solidFill>
                <a:latin typeface="Calibri Light"/>
                <a:ea typeface="Calibri Light"/>
              </a:rPr>
              <a:t>Chủ đề 03: Responsive và Adaptive UI trong Flutter</a:t>
            </a:r>
            <a:endParaRPr b="0" lang="en-US" sz="1000" spc="-1" strike="noStrike">
              <a:solidFill>
                <a:srgbClr val="000000"/>
              </a:solidFill>
              <a:latin typeface="Arial"/>
            </a:endParaRPr>
          </a:p>
        </p:txBody>
      </p:sp>
      <p:sp>
        <p:nvSpPr>
          <p:cNvPr id="65" name=""/>
          <p:cNvSpPr/>
          <p:nvPr/>
        </p:nvSpPr>
        <p:spPr>
          <a:xfrm>
            <a:off x="10839600" y="6448320"/>
            <a:ext cx="514080" cy="209160"/>
          </a:xfrm>
          <a:prstGeom prst="rect">
            <a:avLst/>
          </a:prstGeom>
          <a:noFill/>
          <a:ln w="0">
            <a:noFill/>
          </a:ln>
        </p:spPr>
        <p:style>
          <a:lnRef idx="0"/>
          <a:fillRef idx="0"/>
          <a:effectRef idx="0"/>
          <a:fontRef idx="minor"/>
        </p:style>
        <p:txBody>
          <a:bodyPr lIns="0" rIns="0" tIns="0" bIns="0" anchor="t">
            <a:noAutofit/>
          </a:bodyPr>
          <a:p>
            <a:pPr algn="r">
              <a:lnSpc>
                <a:spcPct val="100000"/>
              </a:lnSpc>
            </a:pPr>
            <a:r>
              <a:rPr b="0" lang="en-US" sz="1250" spc="-1" strike="noStrike">
                <a:solidFill>
                  <a:srgbClr val="6e6368"/>
                </a:solidFill>
                <a:latin typeface="Calibri Light"/>
                <a:ea typeface="Calibri Light"/>
              </a:rPr>
              <a:t>8</a:t>
            </a:r>
            <a:endParaRPr b="0" lang="en-US" sz="1250" spc="-1" strike="noStrike">
              <a:solidFill>
                <a:srgbClr val="000000"/>
              </a:solidFill>
              <a:latin typeface="Arial"/>
            </a:endParaRPr>
          </a:p>
        </p:txBody>
      </p:sp>
      <p:sp>
        <p:nvSpPr>
          <p:cNvPr id="66" name=""/>
          <p:cNvSpPr/>
          <p:nvPr/>
        </p:nvSpPr>
        <p:spPr>
          <a:xfrm>
            <a:off x="838080" y="1209600"/>
            <a:ext cx="10515240" cy="894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320" spc="-1" strike="noStrike">
                <a:solidFill>
                  <a:srgbClr val="171717"/>
                </a:solidFill>
                <a:latin typeface="Calibri Light"/>
                <a:ea typeface="Calibri Light"/>
              </a:rPr>
              <a:t>Xây dựng widget theo ràng buộc không gian do widget cha cấp.</a:t>
            </a:r>
            <a:endParaRPr b="0" lang="en-US" sz="2320" spc="-1" strike="noStrike">
              <a:solidFill>
                <a:srgbClr val="000000"/>
              </a:solidFill>
              <a:latin typeface="Arial"/>
            </a:endParaRPr>
          </a:p>
          <a:p>
            <a:pPr>
              <a:lnSpc>
                <a:spcPct val="100000"/>
              </a:lnSpc>
            </a:pPr>
            <a:r>
              <a:rPr b="0" lang="en-US" sz="2320" spc="-1" strike="noStrike">
                <a:solidFill>
                  <a:srgbClr val="171717"/>
                </a:solidFill>
                <a:latin typeface="Calibri Light"/>
                <a:ea typeface="Calibri Light"/>
              </a:rPr>
              <a:t>constraints.maxWidth cho biết chiều rộng tối đa tại vị trí đó.</a:t>
            </a:r>
            <a:endParaRPr b="0" lang="en-US" sz="2320" spc="-1" strike="noStrike">
              <a:solidFill>
                <a:srgbClr val="000000"/>
              </a:solidFill>
              <a:latin typeface="Arial"/>
            </a:endParaRPr>
          </a:p>
        </p:txBody>
      </p:sp>
      <p:sp>
        <p:nvSpPr>
          <p:cNvPr id="67" name=""/>
          <p:cNvSpPr/>
          <p:nvPr/>
        </p:nvSpPr>
        <p:spPr>
          <a:xfrm>
            <a:off x="838080" y="2333520"/>
            <a:ext cx="10515240" cy="2923920"/>
          </a:xfrm>
          <a:prstGeom prst="rect">
            <a:avLst/>
          </a:prstGeom>
          <a:solidFill>
            <a:srgbClr val="252a30"/>
          </a:solidFill>
          <a:ln w="0">
            <a:noFill/>
          </a:ln>
        </p:spPr>
        <p:style>
          <a:lnRef idx="0"/>
          <a:fillRef idx="0"/>
          <a:effectRef idx="0"/>
          <a:fontRef idx="minor"/>
        </p:style>
        <p:txBody>
          <a:bodyPr wrap="none" lIns="209520" rIns="209520" tIns="209520" bIns="209520" anchor="t">
            <a:noAutofit/>
          </a:bodyPr>
          <a:p>
            <a:pPr>
              <a:lnSpc>
                <a:spcPct val="100000"/>
              </a:lnSpc>
            </a:pPr>
            <a:r>
              <a:rPr b="0" lang="en-US" sz="2100" spc="-1" strike="noStrike">
                <a:solidFill>
                  <a:srgbClr val="82aaff"/>
                </a:solidFill>
                <a:latin typeface="Arial"/>
                <a:ea typeface="Arial"/>
              </a:rPr>
              <a:t>LayoutBuilder</a:t>
            </a:r>
            <a:r>
              <a:rPr b="0" lang="en-US" sz="2100" spc="-1" strike="noStrike">
                <a:solidFill>
                  <a:srgbClr val="edeff3"/>
                </a:solidFill>
                <a:latin typeface="Arial"/>
                <a:ea typeface="Arial"/>
              </a:rPr>
              <a:t>(</a:t>
            </a:r>
            <a:endParaRPr b="0" lang="en-US" sz="2100" spc="-1" strike="noStrike">
              <a:solidFill>
                <a:srgbClr val="ffffff"/>
              </a:solidFill>
              <a:latin typeface="Arial"/>
            </a:endParaRPr>
          </a:p>
          <a:p>
            <a:pPr>
              <a:lnSpc>
                <a:spcPct val="100000"/>
              </a:lnSpc>
            </a:pPr>
            <a:r>
              <a:rPr b="0" lang="en-US" sz="2100" spc="-1" strike="noStrike">
                <a:solidFill>
                  <a:srgbClr val="edeff3"/>
                </a:solidFill>
                <a:latin typeface="Arial"/>
                <a:ea typeface="Arial"/>
              </a:rPr>
              <a:t>  </a:t>
            </a:r>
            <a:r>
              <a:rPr b="0" lang="en-US" sz="2100" spc="-1" strike="noStrike">
                <a:solidFill>
                  <a:srgbClr val="edeff3"/>
                </a:solidFill>
                <a:latin typeface="Arial"/>
                <a:ea typeface="Arial"/>
              </a:rPr>
              <a:t>builder: (context, constraints) {</a:t>
            </a:r>
            <a:endParaRPr b="0" lang="en-US" sz="2100" spc="-1" strike="noStrike">
              <a:solidFill>
                <a:srgbClr val="ffffff"/>
              </a:solidFill>
              <a:latin typeface="Arial"/>
            </a:endParaRPr>
          </a:p>
          <a:p>
            <a:pPr>
              <a:lnSpc>
                <a:spcPct val="100000"/>
              </a:lnSpc>
            </a:pPr>
            <a:r>
              <a:rPr b="0" lang="en-US" sz="2100" spc="-1" strike="noStrike">
                <a:solidFill>
                  <a:srgbClr val="edeff3"/>
                </a:solidFill>
                <a:latin typeface="Arial"/>
                <a:ea typeface="Arial"/>
              </a:rPr>
              <a:t>    </a:t>
            </a:r>
            <a:r>
              <a:rPr b="0" lang="en-US" sz="2100" spc="-1" strike="noStrike">
                <a:solidFill>
                  <a:srgbClr val="c792ea"/>
                </a:solidFill>
                <a:latin typeface="Arial"/>
                <a:ea typeface="Arial"/>
              </a:rPr>
              <a:t>final </a:t>
            </a:r>
            <a:r>
              <a:rPr b="0" lang="en-US" sz="2100" spc="-1" strike="noStrike">
                <a:solidFill>
                  <a:srgbClr val="edeff3"/>
                </a:solidFill>
                <a:latin typeface="Arial"/>
                <a:ea typeface="Arial"/>
              </a:rPr>
              <a:t>width = constraints.maxWidth;</a:t>
            </a:r>
            <a:endParaRPr b="0" lang="en-US" sz="2100" spc="-1" strike="noStrike">
              <a:solidFill>
                <a:srgbClr val="ffffff"/>
              </a:solidFill>
              <a:latin typeface="Arial"/>
            </a:endParaRPr>
          </a:p>
          <a:p>
            <a:pPr>
              <a:lnSpc>
                <a:spcPct val="100000"/>
              </a:lnSpc>
            </a:pPr>
            <a:r>
              <a:rPr b="0" lang="en-US" sz="2100" spc="-1" strike="noStrike">
                <a:solidFill>
                  <a:srgbClr val="edeff3"/>
                </a:solidFill>
                <a:latin typeface="Arial"/>
                <a:ea typeface="Arial"/>
              </a:rPr>
              <a:t>    </a:t>
            </a:r>
            <a:r>
              <a:rPr b="0" lang="en-US" sz="2100" spc="-1" strike="noStrike">
                <a:solidFill>
                  <a:srgbClr val="edeff3"/>
                </a:solidFill>
                <a:latin typeface="Arial"/>
                <a:ea typeface="Arial"/>
              </a:rPr>
              <a:t>final columns = width &lt; 600 ? 1 : 2;</a:t>
            </a:r>
            <a:endParaRPr b="0" lang="en-US" sz="2100" spc="-1" strike="noStrike">
              <a:solidFill>
                <a:srgbClr val="ffffff"/>
              </a:solidFill>
              <a:latin typeface="Arial"/>
            </a:endParaRPr>
          </a:p>
          <a:p>
            <a:pPr>
              <a:lnSpc>
                <a:spcPct val="100000"/>
              </a:lnSpc>
            </a:pPr>
            <a:r>
              <a:rPr b="0" lang="en-US" sz="2100" spc="-1" strike="noStrike">
                <a:solidFill>
                  <a:srgbClr val="edeff3"/>
                </a:solidFill>
                <a:latin typeface="Arial"/>
                <a:ea typeface="Arial"/>
              </a:rPr>
              <a:t>    </a:t>
            </a:r>
            <a:r>
              <a:rPr b="0" lang="en-US" sz="2100" spc="-1" strike="noStrike">
                <a:solidFill>
                  <a:srgbClr val="c792ea"/>
                </a:solidFill>
                <a:latin typeface="Arial"/>
                <a:ea typeface="Arial"/>
              </a:rPr>
              <a:t>return </a:t>
            </a:r>
            <a:r>
              <a:rPr b="0" lang="en-US" sz="2100" spc="-1" strike="noStrike">
                <a:solidFill>
                  <a:srgbClr val="edeff3"/>
                </a:solidFill>
                <a:latin typeface="Arial"/>
                <a:ea typeface="Arial"/>
              </a:rPr>
              <a:t>Text('Số cột: $columns');</a:t>
            </a:r>
            <a:endParaRPr b="0" lang="en-US" sz="2100" spc="-1" strike="noStrike">
              <a:solidFill>
                <a:srgbClr val="ffffff"/>
              </a:solidFill>
              <a:latin typeface="Arial"/>
            </a:endParaRPr>
          </a:p>
          <a:p>
            <a:pPr>
              <a:lnSpc>
                <a:spcPct val="100000"/>
              </a:lnSpc>
            </a:pPr>
            <a:r>
              <a:rPr b="0" lang="en-US" sz="2100" spc="-1" strike="noStrike">
                <a:solidFill>
                  <a:srgbClr val="edeff3"/>
                </a:solidFill>
                <a:latin typeface="Arial"/>
                <a:ea typeface="Arial"/>
              </a:rPr>
              <a:t>  </a:t>
            </a:r>
            <a:r>
              <a:rPr b="0" lang="en-US" sz="2100" spc="-1" strike="noStrike">
                <a:solidFill>
                  <a:srgbClr val="edeff3"/>
                </a:solidFill>
                <a:latin typeface="Arial"/>
                <a:ea typeface="Arial"/>
              </a:rPr>
              <a:t>},</a:t>
            </a:r>
            <a:endParaRPr b="0" lang="en-US" sz="2100" spc="-1" strike="noStrike">
              <a:solidFill>
                <a:srgbClr val="ffffff"/>
              </a:solidFill>
              <a:latin typeface="Arial"/>
            </a:endParaRPr>
          </a:p>
          <a:p>
            <a:pPr>
              <a:lnSpc>
                <a:spcPct val="100000"/>
              </a:lnSpc>
            </a:pPr>
            <a:r>
              <a:rPr b="0" lang="en-US" sz="2100" spc="-1" strike="noStrike">
                <a:solidFill>
                  <a:srgbClr val="edeff3"/>
                </a:solidFill>
                <a:latin typeface="Arial"/>
                <a:ea typeface="Arial"/>
              </a:rPr>
              <a:t>)</a:t>
            </a:r>
            <a:endParaRPr b="0" lang="en-US" sz="2100" spc="-1" strike="noStrike">
              <a:solidFill>
                <a:srgbClr val="ffffff"/>
              </a:solidFill>
              <a:latin typeface="Arial"/>
            </a:endParaRPr>
          </a:p>
        </p:txBody>
      </p:sp>
      <p:sp>
        <p:nvSpPr>
          <p:cNvPr id="68" name=""/>
          <p:cNvSpPr/>
          <p:nvPr/>
        </p:nvSpPr>
        <p:spPr>
          <a:xfrm>
            <a:off x="838080" y="5619600"/>
            <a:ext cx="10515240" cy="6188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170" spc="-1" strike="noStrike">
                <a:solidFill>
                  <a:srgbClr val="171717"/>
                </a:solidFill>
                <a:latin typeface="Calibri Light"/>
                <a:ea typeface="Calibri Light"/>
              </a:rPr>
              <a:t>Phù hợp khi quyết định bố cục của một vùng nội dung cụ thể.</a:t>
            </a:r>
            <a:endParaRPr b="0" lang="en-US" sz="21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
          <p:cNvSpPr/>
          <p:nvPr/>
        </p:nvSpPr>
        <p:spPr>
          <a:xfrm>
            <a:off x="762120" y="380880"/>
            <a:ext cx="106675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3230" spc="-1" strike="noStrike">
                <a:solidFill>
                  <a:srgbClr val="171717"/>
                </a:solidFill>
                <a:latin typeface="Calibri Light"/>
                <a:ea typeface="Calibri Light"/>
              </a:rPr>
              <a:t>2.3. MediaQuery và LayoutBuilder</a:t>
            </a:r>
            <a:endParaRPr b="0" lang="en-US" sz="3230" spc="-1" strike="noStrike">
              <a:solidFill>
                <a:srgbClr val="000000"/>
              </a:solidFill>
              <a:latin typeface="Arial"/>
            </a:endParaRPr>
          </a:p>
        </p:txBody>
      </p:sp>
      <p:sp>
        <p:nvSpPr>
          <p:cNvPr id="70" name=""/>
          <p:cNvSpPr/>
          <p:nvPr/>
        </p:nvSpPr>
        <p:spPr>
          <a:xfrm>
            <a:off x="838080" y="6448320"/>
            <a:ext cx="952452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6e6368"/>
                </a:solidFill>
                <a:latin typeface="Calibri Light"/>
                <a:ea typeface="Calibri Light"/>
              </a:rPr>
              <a:t>Chủ đề 03: Responsive và Adaptive UI trong Flutter</a:t>
            </a:r>
            <a:endParaRPr b="0" lang="en-US" sz="1000" spc="-1" strike="noStrike">
              <a:solidFill>
                <a:srgbClr val="000000"/>
              </a:solidFill>
              <a:latin typeface="Arial"/>
            </a:endParaRPr>
          </a:p>
        </p:txBody>
      </p:sp>
      <p:sp>
        <p:nvSpPr>
          <p:cNvPr id="71" name=""/>
          <p:cNvSpPr/>
          <p:nvPr/>
        </p:nvSpPr>
        <p:spPr>
          <a:xfrm>
            <a:off x="10839600" y="6448320"/>
            <a:ext cx="514080" cy="209160"/>
          </a:xfrm>
          <a:prstGeom prst="rect">
            <a:avLst/>
          </a:prstGeom>
          <a:noFill/>
          <a:ln w="0">
            <a:noFill/>
          </a:ln>
        </p:spPr>
        <p:style>
          <a:lnRef idx="0"/>
          <a:fillRef idx="0"/>
          <a:effectRef idx="0"/>
          <a:fontRef idx="minor"/>
        </p:style>
        <p:txBody>
          <a:bodyPr lIns="0" rIns="0" tIns="0" bIns="0" anchor="t">
            <a:noAutofit/>
          </a:bodyPr>
          <a:p>
            <a:pPr algn="r">
              <a:lnSpc>
                <a:spcPct val="100000"/>
              </a:lnSpc>
            </a:pPr>
            <a:r>
              <a:rPr b="0" lang="en-US" sz="1250" spc="-1" strike="noStrike">
                <a:solidFill>
                  <a:srgbClr val="6e6368"/>
                </a:solidFill>
                <a:latin typeface="Calibri Light"/>
                <a:ea typeface="Calibri Light"/>
              </a:rPr>
              <a:t>9</a:t>
            </a:r>
            <a:endParaRPr b="0" lang="en-US" sz="1250" spc="-1" strike="noStrike">
              <a:solidFill>
                <a:srgbClr val="000000"/>
              </a:solidFill>
              <a:latin typeface="Arial"/>
            </a:endParaRPr>
          </a:p>
        </p:txBody>
      </p:sp>
      <p:graphicFrame>
        <p:nvGraphicFramePr>
          <p:cNvPr id="72" name=""/>
          <p:cNvGraphicFramePr/>
          <p:nvPr/>
        </p:nvGraphicFramePr>
        <p:xfrm>
          <a:off x="838080" y="1504800"/>
          <a:ext cx="10515240" cy="3714480"/>
        </p:xfrm>
        <a:graphic>
          <a:graphicData uri="http://schemas.openxmlformats.org/drawingml/2006/table">
            <a:tbl>
              <a:tblPr/>
              <a:tblGrid>
                <a:gridCol w="2286000"/>
                <a:gridCol w="4114800"/>
                <a:gridCol w="4114800"/>
              </a:tblGrid>
              <a:tr h="628560">
                <a:tc>
                  <a:txBody>
                    <a:bodyPr anchor="ctr">
                      <a:noAutofit/>
                    </a:bodyPr>
                    <a:p>
                      <a:pPr>
                        <a:lnSpc>
                          <a:spcPct val="100000"/>
                        </a:lnSpc>
                      </a:pPr>
                      <a:r>
                        <a:rPr b="1" lang="en-US" sz="2100" spc="-1" strike="noStrike">
                          <a:solidFill>
                            <a:srgbClr val="ffffff"/>
                          </a:solidFill>
                          <a:latin typeface="Calibri Light"/>
                          <a:ea typeface="Calibri Light"/>
                        </a:rPr>
                        <a:t>ĐẶC ĐIỂM</a:t>
                      </a:r>
                      <a:endParaRPr b="0" lang="en-US" sz="2100" spc="-1" strike="noStrike">
                        <a:solidFill>
                          <a:srgbClr val="ffffff"/>
                        </a:solidFill>
                        <a:latin typeface="Arial"/>
                      </a:endParaRPr>
                    </a:p>
                  </a:txBody>
                  <a:tcPr anchor="ctr" marL="91440" marR="91440">
                    <a:lnL w="14400">
                      <a:solidFill>
                        <a:srgbClr val="ffffff"/>
                      </a:solidFill>
                      <a:prstDash val="solid"/>
                    </a:lnL>
                    <a:lnR w="14400">
                      <a:solidFill>
                        <a:srgbClr val="ffffff"/>
                      </a:solidFill>
                      <a:prstDash val="solid"/>
                    </a:lnR>
                    <a:lnT w="14400">
                      <a:solidFill>
                        <a:srgbClr val="ffffff"/>
                      </a:solidFill>
                      <a:prstDash val="solid"/>
                    </a:lnT>
                    <a:lnB w="14400">
                      <a:solidFill>
                        <a:srgbClr val="ffffff"/>
                      </a:solidFill>
                      <a:prstDash val="solid"/>
                    </a:lnB>
                    <a:solidFill>
                      <a:srgbClr val="4472c4"/>
                    </a:solidFill>
                  </a:tcPr>
                </a:tc>
                <a:tc>
                  <a:txBody>
                    <a:bodyPr anchor="ctr">
                      <a:noAutofit/>
                    </a:bodyPr>
                    <a:p>
                      <a:pPr>
                        <a:lnSpc>
                          <a:spcPct val="100000"/>
                        </a:lnSpc>
                      </a:pPr>
                      <a:r>
                        <a:rPr b="1" lang="en-US" sz="2100" spc="-1" strike="noStrike">
                          <a:solidFill>
                            <a:srgbClr val="ffffff"/>
                          </a:solidFill>
                          <a:latin typeface="Calibri Light"/>
                          <a:ea typeface="Calibri Light"/>
                        </a:rPr>
                        <a:t>MediaQuery.sizeOf</a:t>
                      </a:r>
                      <a:endParaRPr b="0" lang="en-US" sz="2100" spc="-1" strike="noStrike">
                        <a:solidFill>
                          <a:srgbClr val="ffffff"/>
                        </a:solidFill>
                        <a:latin typeface="Arial"/>
                      </a:endParaRPr>
                    </a:p>
                  </a:txBody>
                  <a:tcPr anchor="ctr" marL="91440" marR="91440">
                    <a:lnL w="12240">
                      <a:solidFill>
                        <a:srgbClr val="000000"/>
                      </a:solidFill>
                      <a:prstDash val="solid"/>
                    </a:lnL>
                    <a:lnR w="14400">
                      <a:solidFill>
                        <a:srgbClr val="ffffff"/>
                      </a:solidFill>
                      <a:prstDash val="solid"/>
                    </a:lnR>
                    <a:lnT w="14400">
                      <a:solidFill>
                        <a:srgbClr val="ffffff"/>
                      </a:solidFill>
                      <a:prstDash val="solid"/>
                    </a:lnT>
                    <a:lnB w="14400">
                      <a:solidFill>
                        <a:srgbClr val="ffffff"/>
                      </a:solidFill>
                      <a:prstDash val="solid"/>
                    </a:lnB>
                    <a:solidFill>
                      <a:srgbClr val="4472c4"/>
                    </a:solidFill>
                  </a:tcPr>
                </a:tc>
                <a:tc>
                  <a:txBody>
                    <a:bodyPr anchor="ctr">
                      <a:noAutofit/>
                    </a:bodyPr>
                    <a:p>
                      <a:pPr>
                        <a:lnSpc>
                          <a:spcPct val="100000"/>
                        </a:lnSpc>
                      </a:pPr>
                      <a:r>
                        <a:rPr b="1" lang="en-US" sz="2100" spc="-1" strike="noStrike">
                          <a:solidFill>
                            <a:srgbClr val="ffffff"/>
                          </a:solidFill>
                          <a:latin typeface="Calibri Light"/>
                          <a:ea typeface="Calibri Light"/>
                        </a:rPr>
                        <a:t>LayoutBuilder</a:t>
                      </a:r>
                      <a:endParaRPr b="0" lang="en-US" sz="2100" spc="-1" strike="noStrike">
                        <a:solidFill>
                          <a:srgbClr val="ffffff"/>
                        </a:solidFill>
                        <a:latin typeface="Arial"/>
                      </a:endParaRPr>
                    </a:p>
                  </a:txBody>
                  <a:tcPr anchor="ctr" marL="91440" marR="91440">
                    <a:lnL w="12240">
                      <a:solidFill>
                        <a:srgbClr val="000000"/>
                      </a:solidFill>
                      <a:prstDash val="solid"/>
                    </a:lnL>
                    <a:lnR w="14400">
                      <a:solidFill>
                        <a:srgbClr val="ffffff"/>
                      </a:solidFill>
                      <a:prstDash val="solid"/>
                    </a:lnR>
                    <a:lnT w="14400">
                      <a:solidFill>
                        <a:srgbClr val="ffffff"/>
                      </a:solidFill>
                      <a:prstDash val="solid"/>
                    </a:lnT>
                    <a:lnB w="14400">
                      <a:solidFill>
                        <a:srgbClr val="ffffff"/>
                      </a:solidFill>
                      <a:prstDash val="solid"/>
                    </a:lnB>
                    <a:solidFill>
                      <a:srgbClr val="4472c4"/>
                    </a:solidFill>
                  </a:tcPr>
                </a:tc>
              </a:tr>
              <a:tr h="1028520">
                <a:tc>
                  <a:txBody>
                    <a:bodyPr anchor="ctr">
                      <a:noAutofit/>
                    </a:bodyPr>
                    <a:p>
                      <a:pPr>
                        <a:lnSpc>
                          <a:spcPct val="100000"/>
                        </a:lnSpc>
                      </a:pPr>
                      <a:r>
                        <a:rPr b="0" lang="en-US" sz="2100" spc="-1" strike="noStrike">
                          <a:solidFill>
                            <a:srgbClr val="171717"/>
                          </a:solidFill>
                          <a:latin typeface="Calibri Light"/>
                          <a:ea typeface="Calibri Light"/>
                        </a:rPr>
                        <a:t>Giá trị nhận</a:t>
                      </a:r>
                      <a:endParaRPr b="0" lang="en-US" sz="210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00" spc="-1" strike="noStrike">
                          <a:solidFill>
                            <a:srgbClr val="171717"/>
                          </a:solidFill>
                          <a:latin typeface="Calibri Light"/>
                          <a:ea typeface="Calibri Light"/>
                        </a:rPr>
                        <a:t>Size: width và height</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00" spc="-1" strike="noStrike">
                          <a:solidFill>
                            <a:srgbClr val="171717"/>
                          </a:solidFill>
                          <a:latin typeface="Calibri Light"/>
                          <a:ea typeface="Calibri Light"/>
                        </a:rPr>
                        <a:t>BoxConstraints: min / max</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r>
              <a:tr h="1028520">
                <a:tc>
                  <a:txBody>
                    <a:bodyPr anchor="ctr">
                      <a:noAutofit/>
                    </a:bodyPr>
                    <a:p>
                      <a:pPr>
                        <a:lnSpc>
                          <a:spcPct val="100000"/>
                        </a:lnSpc>
                      </a:pPr>
                      <a:r>
                        <a:rPr b="0" lang="en-US" sz="2100" spc="-1" strike="noStrike">
                          <a:solidFill>
                            <a:srgbClr val="171717"/>
                          </a:solidFill>
                          <a:latin typeface="Calibri Light"/>
                          <a:ea typeface="Calibri Light"/>
                        </a:rPr>
                        <a:t>Phạm vi</a:t>
                      </a:r>
                      <a:endParaRPr b="0" lang="en-US" sz="210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e9ecf5"/>
                    </a:solidFill>
                  </a:tcPr>
                </a:tc>
                <a:tc>
                  <a:txBody>
                    <a:bodyPr anchor="ctr">
                      <a:noAutofit/>
                    </a:bodyPr>
                    <a:p>
                      <a:pPr>
                        <a:lnSpc>
                          <a:spcPct val="100000"/>
                        </a:lnSpc>
                      </a:pPr>
                      <a:r>
                        <a:rPr b="0" lang="en-US" sz="2100" spc="-1" strike="noStrike">
                          <a:solidFill>
                            <a:srgbClr val="171717"/>
                          </a:solidFill>
                          <a:latin typeface="Calibri Light"/>
                          <a:ea typeface="Calibri Light"/>
                        </a:rPr>
                        <a:t>View hoặc cửa sổ ứng dụng</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e9ecf5"/>
                    </a:solidFill>
                  </a:tcPr>
                </a:tc>
                <a:tc>
                  <a:txBody>
                    <a:bodyPr anchor="ctr">
                      <a:noAutofit/>
                    </a:bodyPr>
                    <a:p>
                      <a:pPr>
                        <a:lnSpc>
                          <a:spcPct val="100000"/>
                        </a:lnSpc>
                      </a:pPr>
                      <a:r>
                        <a:rPr b="0" lang="en-US" sz="2100" spc="-1" strike="noStrike">
                          <a:solidFill>
                            <a:srgbClr val="171717"/>
                          </a:solidFill>
                          <a:latin typeface="Calibri Light"/>
                          <a:ea typeface="Calibri Light"/>
                        </a:rPr>
                        <a:t>Vùng widget cha cấp</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e9ecf5"/>
                    </a:solidFill>
                  </a:tcPr>
                </a:tc>
              </a:tr>
              <a:tr h="1028520">
                <a:tc>
                  <a:txBody>
                    <a:bodyPr anchor="ctr">
                      <a:noAutofit/>
                    </a:bodyPr>
                    <a:p>
                      <a:pPr>
                        <a:lnSpc>
                          <a:spcPct val="100000"/>
                        </a:lnSpc>
                      </a:pPr>
                      <a:r>
                        <a:rPr b="0" lang="en-US" sz="2100" spc="-1" strike="noStrike">
                          <a:solidFill>
                            <a:srgbClr val="171717"/>
                          </a:solidFill>
                          <a:latin typeface="Calibri Light"/>
                          <a:ea typeface="Calibri Light"/>
                        </a:rPr>
                        <a:t>Ứng dụng</a:t>
                      </a:r>
                      <a:endParaRPr b="0" lang="en-US" sz="210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00" spc="-1" strike="noStrike">
                          <a:solidFill>
                            <a:srgbClr val="171717"/>
                          </a:solidFill>
                          <a:latin typeface="Calibri Light"/>
                          <a:ea typeface="Calibri Light"/>
                        </a:rPr>
                        <a:t>Đọc kích thước tổng thể</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00" spc="-1" strike="noStrike">
                          <a:solidFill>
                            <a:srgbClr val="171717"/>
                          </a:solidFill>
                          <a:latin typeface="Calibri Light"/>
                          <a:ea typeface="Calibri Light"/>
                        </a:rPr>
                        <a:t>Chọn bố cục nội dung cục bộ</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r>
            </a:tbl>
          </a:graphicData>
        </a:graphic>
      </p:graphicFrame>
      <p:sp>
        <p:nvSpPr>
          <p:cNvPr id="73" name=""/>
          <p:cNvSpPr/>
          <p:nvPr/>
        </p:nvSpPr>
        <p:spPr>
          <a:xfrm>
            <a:off x="838080" y="5553000"/>
            <a:ext cx="10515240" cy="7520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170" spc="-1" strike="noStrike">
                <a:solidFill>
                  <a:srgbClr val="171717"/>
                </a:solidFill>
                <a:latin typeface="Calibri Light"/>
                <a:ea typeface="Calibri Light"/>
              </a:rPr>
              <a:t>Chiều rộng cửa sổ có thể lớn hơn chiều rộng vùng nội dung,</a:t>
            </a:r>
            <a:endParaRPr b="0" lang="en-US" sz="2170" spc="-1" strike="noStrike">
              <a:solidFill>
                <a:srgbClr val="000000"/>
              </a:solidFill>
              <a:latin typeface="Arial"/>
            </a:endParaRPr>
          </a:p>
          <a:p>
            <a:pPr>
              <a:lnSpc>
                <a:spcPct val="100000"/>
              </a:lnSpc>
            </a:pPr>
            <a:r>
              <a:rPr b="0" lang="en-US" sz="2170" spc="-1" strike="noStrike">
                <a:solidFill>
                  <a:srgbClr val="171717"/>
                </a:solidFill>
                <a:latin typeface="Calibri Light"/>
                <a:ea typeface="Calibri Light"/>
              </a:rPr>
              <a:t>vì widget cha còn dành chỗ cho điều hướng và khoảng đệm.</a:t>
            </a:r>
            <a:endParaRPr b="0" lang="en-US" sz="21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 name=""/>
          <p:cNvSpPr/>
          <p:nvPr/>
        </p:nvSpPr>
        <p:spPr>
          <a:xfrm>
            <a:off x="762120" y="380880"/>
            <a:ext cx="106675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3230" spc="-1" strike="noStrike">
                <a:solidFill>
                  <a:srgbClr val="171717"/>
                </a:solidFill>
                <a:latin typeface="Calibri Light"/>
                <a:ea typeface="Calibri Light"/>
              </a:rPr>
              <a:t>2.4. Breakpoint</a:t>
            </a:r>
            <a:endParaRPr b="0" lang="en-US" sz="3230" spc="-1" strike="noStrike">
              <a:solidFill>
                <a:srgbClr val="000000"/>
              </a:solidFill>
              <a:latin typeface="Arial"/>
            </a:endParaRPr>
          </a:p>
        </p:txBody>
      </p:sp>
      <p:sp>
        <p:nvSpPr>
          <p:cNvPr id="75" name=""/>
          <p:cNvSpPr/>
          <p:nvPr/>
        </p:nvSpPr>
        <p:spPr>
          <a:xfrm>
            <a:off x="838080" y="6448320"/>
            <a:ext cx="952452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6e6368"/>
                </a:solidFill>
                <a:latin typeface="Calibri Light"/>
                <a:ea typeface="Calibri Light"/>
              </a:rPr>
              <a:t>Chủ đề 03: Responsive và Adaptive UI trong Flutter</a:t>
            </a:r>
            <a:endParaRPr b="0" lang="en-US" sz="1000" spc="-1" strike="noStrike">
              <a:solidFill>
                <a:srgbClr val="000000"/>
              </a:solidFill>
              <a:latin typeface="Arial"/>
            </a:endParaRPr>
          </a:p>
        </p:txBody>
      </p:sp>
      <p:sp>
        <p:nvSpPr>
          <p:cNvPr id="76" name=""/>
          <p:cNvSpPr/>
          <p:nvPr/>
        </p:nvSpPr>
        <p:spPr>
          <a:xfrm>
            <a:off x="10839600" y="6448320"/>
            <a:ext cx="514080" cy="209160"/>
          </a:xfrm>
          <a:prstGeom prst="rect">
            <a:avLst/>
          </a:prstGeom>
          <a:noFill/>
          <a:ln w="0">
            <a:noFill/>
          </a:ln>
        </p:spPr>
        <p:style>
          <a:lnRef idx="0"/>
          <a:fillRef idx="0"/>
          <a:effectRef idx="0"/>
          <a:fontRef idx="minor"/>
        </p:style>
        <p:txBody>
          <a:bodyPr lIns="0" rIns="0" tIns="0" bIns="0" anchor="t">
            <a:noAutofit/>
          </a:bodyPr>
          <a:p>
            <a:pPr algn="r">
              <a:lnSpc>
                <a:spcPct val="100000"/>
              </a:lnSpc>
            </a:pPr>
            <a:r>
              <a:rPr b="0" lang="en-US" sz="1250" spc="-1" strike="noStrike">
                <a:solidFill>
                  <a:srgbClr val="6e6368"/>
                </a:solidFill>
                <a:latin typeface="Calibri Light"/>
                <a:ea typeface="Calibri Light"/>
              </a:rPr>
              <a:t>10</a:t>
            </a:r>
            <a:endParaRPr b="0" lang="en-US" sz="1250" spc="-1" strike="noStrike">
              <a:solidFill>
                <a:srgbClr val="000000"/>
              </a:solidFill>
              <a:latin typeface="Arial"/>
            </a:endParaRPr>
          </a:p>
        </p:txBody>
      </p:sp>
      <p:sp>
        <p:nvSpPr>
          <p:cNvPr id="77" name=""/>
          <p:cNvSpPr/>
          <p:nvPr/>
        </p:nvSpPr>
        <p:spPr>
          <a:xfrm>
            <a:off x="838080" y="1219320"/>
            <a:ext cx="10515240" cy="7617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400" spc="-1" strike="noStrike">
                <a:solidFill>
                  <a:srgbClr val="171717"/>
                </a:solidFill>
                <a:latin typeface="Calibri Light"/>
                <a:ea typeface="Calibri Light"/>
              </a:rPr>
              <a:t>Breakpoint là ngưỡng chiều rộng để chuyển sang bố cục phù hợp.</a:t>
            </a:r>
            <a:endParaRPr b="0" lang="en-US" sz="2400" spc="-1" strike="noStrike">
              <a:solidFill>
                <a:srgbClr val="000000"/>
              </a:solidFill>
              <a:latin typeface="Arial"/>
            </a:endParaRPr>
          </a:p>
        </p:txBody>
      </p:sp>
      <p:graphicFrame>
        <p:nvGraphicFramePr>
          <p:cNvPr id="78" name=""/>
          <p:cNvGraphicFramePr/>
          <p:nvPr/>
        </p:nvGraphicFramePr>
        <p:xfrm>
          <a:off x="838080" y="2428920"/>
          <a:ext cx="6286320" cy="2914200"/>
        </p:xfrm>
        <a:graphic>
          <a:graphicData uri="http://schemas.openxmlformats.org/drawingml/2006/table">
            <a:tbl>
              <a:tblPr/>
              <a:tblGrid>
                <a:gridCol w="2857320"/>
                <a:gridCol w="3429000"/>
              </a:tblGrid>
              <a:tr h="628560">
                <a:tc>
                  <a:txBody>
                    <a:bodyPr anchor="ctr">
                      <a:noAutofit/>
                    </a:bodyPr>
                    <a:p>
                      <a:pPr>
                        <a:lnSpc>
                          <a:spcPct val="100000"/>
                        </a:lnSpc>
                      </a:pPr>
                      <a:r>
                        <a:rPr b="1" lang="en-US" sz="2100" spc="-1" strike="noStrike">
                          <a:solidFill>
                            <a:srgbClr val="ffffff"/>
                          </a:solidFill>
                          <a:latin typeface="Calibri Light"/>
                          <a:ea typeface="Calibri Light"/>
                        </a:rPr>
                        <a:t>CHIỀU RỘNG w</a:t>
                      </a:r>
                      <a:endParaRPr b="0" lang="en-US" sz="2100" spc="-1" strike="noStrike">
                        <a:solidFill>
                          <a:srgbClr val="ffffff"/>
                        </a:solidFill>
                        <a:latin typeface="Arial"/>
                      </a:endParaRPr>
                    </a:p>
                  </a:txBody>
                  <a:tcPr anchor="ctr" marL="91440" marR="91440">
                    <a:lnL w="14400">
                      <a:solidFill>
                        <a:srgbClr val="ffffff"/>
                      </a:solidFill>
                      <a:prstDash val="solid"/>
                    </a:lnL>
                    <a:lnR w="14400">
                      <a:solidFill>
                        <a:srgbClr val="ffffff"/>
                      </a:solidFill>
                      <a:prstDash val="solid"/>
                    </a:lnR>
                    <a:lnT w="14400">
                      <a:solidFill>
                        <a:srgbClr val="ffffff"/>
                      </a:solidFill>
                      <a:prstDash val="solid"/>
                    </a:lnT>
                    <a:lnB w="14400">
                      <a:solidFill>
                        <a:srgbClr val="ffffff"/>
                      </a:solidFill>
                      <a:prstDash val="solid"/>
                    </a:lnB>
                    <a:solidFill>
                      <a:srgbClr val="4472c4"/>
                    </a:solidFill>
                  </a:tcPr>
                </a:tc>
                <a:tc>
                  <a:txBody>
                    <a:bodyPr anchor="ctr">
                      <a:noAutofit/>
                    </a:bodyPr>
                    <a:p>
                      <a:pPr>
                        <a:lnSpc>
                          <a:spcPct val="100000"/>
                        </a:lnSpc>
                      </a:pPr>
                      <a:r>
                        <a:rPr b="1" lang="en-US" sz="2100" spc="-1" strike="noStrike">
                          <a:solidFill>
                            <a:srgbClr val="ffffff"/>
                          </a:solidFill>
                          <a:latin typeface="Calibri Light"/>
                          <a:ea typeface="Calibri Light"/>
                        </a:rPr>
                        <a:t>SỐ CỘT MINH HỌA</a:t>
                      </a:r>
                      <a:endParaRPr b="0" lang="en-US" sz="2100" spc="-1" strike="noStrike">
                        <a:solidFill>
                          <a:srgbClr val="ffffff"/>
                        </a:solidFill>
                        <a:latin typeface="Arial"/>
                      </a:endParaRPr>
                    </a:p>
                  </a:txBody>
                  <a:tcPr anchor="ctr" marL="91440" marR="91440">
                    <a:lnL w="12240">
                      <a:solidFill>
                        <a:srgbClr val="000000"/>
                      </a:solidFill>
                      <a:prstDash val="solid"/>
                    </a:lnL>
                    <a:lnR w="14400">
                      <a:solidFill>
                        <a:srgbClr val="ffffff"/>
                      </a:solidFill>
                      <a:prstDash val="solid"/>
                    </a:lnR>
                    <a:lnT w="14400">
                      <a:solidFill>
                        <a:srgbClr val="ffffff"/>
                      </a:solidFill>
                      <a:prstDash val="solid"/>
                    </a:lnT>
                    <a:lnB w="14400">
                      <a:solidFill>
                        <a:srgbClr val="ffffff"/>
                      </a:solidFill>
                      <a:prstDash val="solid"/>
                    </a:lnB>
                    <a:solidFill>
                      <a:srgbClr val="4472c4"/>
                    </a:solidFill>
                  </a:tcPr>
                </a:tc>
              </a:tr>
              <a:tr h="761760">
                <a:tc>
                  <a:txBody>
                    <a:bodyPr anchor="ctr">
                      <a:noAutofit/>
                    </a:bodyPr>
                    <a:p>
                      <a:pPr>
                        <a:lnSpc>
                          <a:spcPct val="100000"/>
                        </a:lnSpc>
                      </a:pPr>
                      <a:r>
                        <a:rPr b="0" lang="en-US" sz="2100" spc="-1" strike="noStrike">
                          <a:solidFill>
                            <a:srgbClr val="171717"/>
                          </a:solidFill>
                          <a:latin typeface="Calibri Light"/>
                          <a:ea typeface="Calibri Light"/>
                        </a:rPr>
                        <a:t>w &lt; 600</a:t>
                      </a:r>
                      <a:endParaRPr b="0" lang="en-US" sz="210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00" spc="-1" strike="noStrike">
                          <a:solidFill>
                            <a:srgbClr val="171717"/>
                          </a:solidFill>
                          <a:latin typeface="Calibri Light"/>
                          <a:ea typeface="Calibri Light"/>
                        </a:rPr>
                        <a:t>1 cột</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r>
              <a:tr h="761760">
                <a:tc>
                  <a:txBody>
                    <a:bodyPr anchor="ctr">
                      <a:noAutofit/>
                    </a:bodyPr>
                    <a:p>
                      <a:pPr>
                        <a:lnSpc>
                          <a:spcPct val="100000"/>
                        </a:lnSpc>
                      </a:pPr>
                      <a:r>
                        <a:rPr b="0" lang="en-US" sz="2100" spc="-1" strike="noStrike">
                          <a:solidFill>
                            <a:srgbClr val="171717"/>
                          </a:solidFill>
                          <a:latin typeface="Calibri Light"/>
                          <a:ea typeface="Calibri Light"/>
                        </a:rPr>
                        <a:t>600 ≤ w &lt; 900</a:t>
                      </a:r>
                      <a:endParaRPr b="0" lang="en-US" sz="210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e9ecf5"/>
                    </a:solidFill>
                  </a:tcPr>
                </a:tc>
                <a:tc>
                  <a:txBody>
                    <a:bodyPr anchor="ctr">
                      <a:noAutofit/>
                    </a:bodyPr>
                    <a:p>
                      <a:pPr>
                        <a:lnSpc>
                          <a:spcPct val="100000"/>
                        </a:lnSpc>
                      </a:pPr>
                      <a:r>
                        <a:rPr b="0" lang="en-US" sz="2100" spc="-1" strike="noStrike">
                          <a:solidFill>
                            <a:srgbClr val="171717"/>
                          </a:solidFill>
                          <a:latin typeface="Calibri Light"/>
                          <a:ea typeface="Calibri Light"/>
                        </a:rPr>
                        <a:t>2 cột</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e9ecf5"/>
                    </a:solidFill>
                  </a:tcPr>
                </a:tc>
              </a:tr>
              <a:tr h="761760">
                <a:tc>
                  <a:txBody>
                    <a:bodyPr anchor="ctr">
                      <a:noAutofit/>
                    </a:bodyPr>
                    <a:p>
                      <a:pPr>
                        <a:lnSpc>
                          <a:spcPct val="100000"/>
                        </a:lnSpc>
                      </a:pPr>
                      <a:r>
                        <a:rPr b="0" lang="en-US" sz="2100" spc="-1" strike="noStrike">
                          <a:solidFill>
                            <a:srgbClr val="171717"/>
                          </a:solidFill>
                          <a:latin typeface="Calibri Light"/>
                          <a:ea typeface="Calibri Light"/>
                        </a:rPr>
                        <a:t>w ≥ 900</a:t>
                      </a:r>
                      <a:endParaRPr b="0" lang="en-US" sz="210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00" spc="-1" strike="noStrike">
                          <a:solidFill>
                            <a:srgbClr val="171717"/>
                          </a:solidFill>
                          <a:latin typeface="Calibri Light"/>
                          <a:ea typeface="Calibri Light"/>
                        </a:rPr>
                        <a:t>3 cột</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r>
            </a:tbl>
          </a:graphicData>
        </a:graphic>
      </p:graphicFrame>
      <p:sp>
        <p:nvSpPr>
          <p:cNvPr id="79" name=""/>
          <p:cNvSpPr/>
          <p:nvPr/>
        </p:nvSpPr>
        <p:spPr>
          <a:xfrm>
            <a:off x="7620120" y="2514600"/>
            <a:ext cx="3733560" cy="2857320"/>
          </a:xfrm>
          <a:prstGeom prst="rect">
            <a:avLst/>
          </a:prstGeom>
          <a:noFill/>
          <a:ln w="0">
            <a:noFill/>
          </a:ln>
        </p:spPr>
        <p:style>
          <a:lnRef idx="0"/>
          <a:fillRef idx="0"/>
          <a:effectRef idx="0"/>
          <a:fontRef idx="minor"/>
        </p:style>
        <p:txBody>
          <a:bodyPr lIns="0" rIns="0" tIns="0" bIns="0" anchor="t">
            <a:noAutofit/>
          </a:bodyPr>
          <a:p>
            <a:pPr marL="228600" indent="-114480">
              <a:lnSpc>
                <a:spcPct val="100000"/>
              </a:lnSpc>
              <a:spcAft>
                <a:spcPts val="1199"/>
              </a:spcAft>
              <a:buClr>
                <a:srgbClr val="171717"/>
              </a:buClr>
              <a:buFont typeface="Symbol" charset="2"/>
              <a:buChar char=""/>
            </a:pPr>
            <a:r>
              <a:rPr b="0" lang="en-US" sz="2100" spc="-1" strike="noStrike">
                <a:solidFill>
                  <a:srgbClr val="171717"/>
                </a:solidFill>
                <a:latin typeface="Calibri Light"/>
                <a:ea typeface="Calibri Light"/>
              </a:rPr>
              <a:t>w là chiều rộng tại vùng đang xét.</a:t>
            </a:r>
            <a:endParaRPr b="0" lang="en-US" sz="2100" spc="-1" strike="noStrike">
              <a:solidFill>
                <a:srgbClr val="000000"/>
              </a:solidFill>
              <a:latin typeface="Arial"/>
            </a:endParaRPr>
          </a:p>
          <a:p>
            <a:pPr marL="228600" indent="-114480">
              <a:lnSpc>
                <a:spcPct val="100000"/>
              </a:lnSpc>
              <a:spcAft>
                <a:spcPts val="1199"/>
              </a:spcAft>
              <a:buClr>
                <a:srgbClr val="171717"/>
              </a:buClr>
              <a:buFont typeface="Symbol" charset="2"/>
              <a:buChar char=""/>
            </a:pPr>
            <a:r>
              <a:rPr b="0" lang="en-US" sz="2100" spc="-1" strike="noStrike">
                <a:solidFill>
                  <a:srgbClr val="171717"/>
                </a:solidFill>
                <a:latin typeface="Calibri Light"/>
                <a:ea typeface="Calibri Light"/>
              </a:rPr>
              <a:t>Ngưỡng phụ thuộc nội dung.</a:t>
            </a:r>
            <a:endParaRPr b="0" lang="en-US" sz="2100" spc="-1" strike="noStrike">
              <a:solidFill>
                <a:srgbClr val="000000"/>
              </a:solidFill>
              <a:latin typeface="Arial"/>
            </a:endParaRPr>
          </a:p>
          <a:p>
            <a:pPr marL="228600" indent="-114480">
              <a:lnSpc>
                <a:spcPct val="100000"/>
              </a:lnSpc>
              <a:spcAft>
                <a:spcPts val="1199"/>
              </a:spcAft>
              <a:buClr>
                <a:srgbClr val="171717"/>
              </a:buClr>
              <a:buFont typeface="Symbol" charset="2"/>
              <a:buChar char=""/>
            </a:pPr>
            <a:r>
              <a:rPr b="0" lang="en-US" sz="2100" spc="-1" strike="noStrike">
                <a:solidFill>
                  <a:srgbClr val="171717"/>
                </a:solidFill>
                <a:latin typeface="Calibri Light"/>
                <a:ea typeface="Calibri Light"/>
              </a:rPr>
              <a:t>600 / 900 là ngưỡng minh họa.</a:t>
            </a:r>
            <a:endParaRPr b="0" lang="en-US" sz="2100" spc="-1" strike="noStrike">
              <a:solidFill>
                <a:srgbClr val="000000"/>
              </a:solidFill>
              <a:latin typeface="Arial"/>
            </a:endParaRPr>
          </a:p>
        </p:txBody>
      </p:sp>
      <p:sp>
        <p:nvSpPr>
          <p:cNvPr id="80" name=""/>
          <p:cNvSpPr/>
          <p:nvPr/>
        </p:nvSpPr>
        <p:spPr>
          <a:xfrm>
            <a:off x="838080" y="5762520"/>
            <a:ext cx="10515240" cy="5713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100" spc="-1" strike="noStrike">
                <a:solidFill>
                  <a:srgbClr val="171717"/>
                </a:solidFill>
                <a:latin typeface="Calibri Light"/>
                <a:ea typeface="Calibri Light"/>
              </a:rPr>
              <a:t>Lựa chọn theo không gian được cấp, kể cả khi cửa sổ thay đổi kích thước.</a:t>
            </a: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 name=""/>
          <p:cNvSpPr/>
          <p:nvPr/>
        </p:nvSpPr>
        <p:spPr>
          <a:xfrm>
            <a:off x="762120" y="380880"/>
            <a:ext cx="106675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3230" spc="-1" strike="noStrike">
                <a:solidFill>
                  <a:srgbClr val="171717"/>
                </a:solidFill>
                <a:latin typeface="Calibri Light"/>
                <a:ea typeface="Calibri Light"/>
              </a:rPr>
              <a:t>3.1. Row, Column, Expanded, Flexible</a:t>
            </a:r>
            <a:endParaRPr b="0" lang="en-US" sz="3230" spc="-1" strike="noStrike">
              <a:solidFill>
                <a:srgbClr val="000000"/>
              </a:solidFill>
              <a:latin typeface="Arial"/>
            </a:endParaRPr>
          </a:p>
        </p:txBody>
      </p:sp>
      <p:sp>
        <p:nvSpPr>
          <p:cNvPr id="82" name=""/>
          <p:cNvSpPr/>
          <p:nvPr/>
        </p:nvSpPr>
        <p:spPr>
          <a:xfrm>
            <a:off x="838080" y="6448320"/>
            <a:ext cx="952452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6e6368"/>
                </a:solidFill>
                <a:latin typeface="Calibri Light"/>
                <a:ea typeface="Calibri Light"/>
              </a:rPr>
              <a:t>Chủ đề 03: Responsive và Adaptive UI trong Flutter</a:t>
            </a:r>
            <a:endParaRPr b="0" lang="en-US" sz="1000" spc="-1" strike="noStrike">
              <a:solidFill>
                <a:srgbClr val="000000"/>
              </a:solidFill>
              <a:latin typeface="Arial"/>
            </a:endParaRPr>
          </a:p>
        </p:txBody>
      </p:sp>
      <p:sp>
        <p:nvSpPr>
          <p:cNvPr id="83" name=""/>
          <p:cNvSpPr/>
          <p:nvPr/>
        </p:nvSpPr>
        <p:spPr>
          <a:xfrm>
            <a:off x="10839600" y="6448320"/>
            <a:ext cx="514080" cy="209160"/>
          </a:xfrm>
          <a:prstGeom prst="rect">
            <a:avLst/>
          </a:prstGeom>
          <a:noFill/>
          <a:ln w="0">
            <a:noFill/>
          </a:ln>
        </p:spPr>
        <p:style>
          <a:lnRef idx="0"/>
          <a:fillRef idx="0"/>
          <a:effectRef idx="0"/>
          <a:fontRef idx="minor"/>
        </p:style>
        <p:txBody>
          <a:bodyPr lIns="0" rIns="0" tIns="0" bIns="0" anchor="t">
            <a:noAutofit/>
          </a:bodyPr>
          <a:p>
            <a:pPr algn="r">
              <a:lnSpc>
                <a:spcPct val="100000"/>
              </a:lnSpc>
            </a:pPr>
            <a:r>
              <a:rPr b="0" lang="en-US" sz="1250" spc="-1" strike="noStrike">
                <a:solidFill>
                  <a:srgbClr val="6e6368"/>
                </a:solidFill>
                <a:latin typeface="Calibri Light"/>
                <a:ea typeface="Calibri Light"/>
              </a:rPr>
              <a:t>11</a:t>
            </a:r>
            <a:endParaRPr b="0" lang="en-US" sz="1250" spc="-1" strike="noStrike">
              <a:solidFill>
                <a:srgbClr val="000000"/>
              </a:solidFill>
              <a:latin typeface="Arial"/>
            </a:endParaRPr>
          </a:p>
        </p:txBody>
      </p:sp>
      <p:sp>
        <p:nvSpPr>
          <p:cNvPr id="84" name=""/>
          <p:cNvSpPr/>
          <p:nvPr/>
        </p:nvSpPr>
        <p:spPr>
          <a:xfrm>
            <a:off x="838080" y="1419120"/>
            <a:ext cx="4762080" cy="475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400" spc="-1" strike="noStrike">
                <a:solidFill>
                  <a:srgbClr val="171717"/>
                </a:solidFill>
                <a:latin typeface="Calibri Light"/>
                <a:ea typeface="Calibri Light"/>
              </a:rPr>
              <a:t>Row / Column</a:t>
            </a:r>
            <a:endParaRPr b="0" lang="en-US" sz="2400" spc="-1" strike="noStrike">
              <a:solidFill>
                <a:srgbClr val="000000"/>
              </a:solidFill>
              <a:latin typeface="Arial"/>
            </a:endParaRPr>
          </a:p>
        </p:txBody>
      </p:sp>
      <p:sp>
        <p:nvSpPr>
          <p:cNvPr id="85" name=""/>
          <p:cNvSpPr/>
          <p:nvPr/>
        </p:nvSpPr>
        <p:spPr>
          <a:xfrm>
            <a:off x="838080" y="2000160"/>
            <a:ext cx="4762080" cy="952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250" spc="-1" strike="noStrike">
                <a:solidFill>
                  <a:srgbClr val="171717"/>
                </a:solidFill>
                <a:latin typeface="Calibri Light"/>
                <a:ea typeface="Calibri Light"/>
              </a:rPr>
              <a:t>Sắp xếp các widget theo</a:t>
            </a:r>
            <a:endParaRPr b="0" lang="en-US" sz="2250" spc="-1" strike="noStrike">
              <a:solidFill>
                <a:srgbClr val="000000"/>
              </a:solidFill>
              <a:latin typeface="Arial"/>
            </a:endParaRPr>
          </a:p>
          <a:p>
            <a:pPr>
              <a:lnSpc>
                <a:spcPct val="100000"/>
              </a:lnSpc>
            </a:pPr>
            <a:r>
              <a:rPr b="0" lang="en-US" sz="2250" spc="-1" strike="noStrike">
                <a:solidFill>
                  <a:srgbClr val="171717"/>
                </a:solidFill>
                <a:latin typeface="Calibri Light"/>
                <a:ea typeface="Calibri Light"/>
              </a:rPr>
              <a:t>chiều ngang hoặc chiều dọc.</a:t>
            </a:r>
            <a:endParaRPr b="0" lang="en-US" sz="2250" spc="-1" strike="noStrike">
              <a:solidFill>
                <a:srgbClr val="000000"/>
              </a:solidFill>
              <a:latin typeface="Arial"/>
            </a:endParaRPr>
          </a:p>
        </p:txBody>
      </p:sp>
      <p:sp>
        <p:nvSpPr>
          <p:cNvPr id="86" name=""/>
          <p:cNvSpPr/>
          <p:nvPr/>
        </p:nvSpPr>
        <p:spPr>
          <a:xfrm>
            <a:off x="838080" y="3295800"/>
            <a:ext cx="4762080" cy="47592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400" spc="-1" strike="noStrike">
                <a:solidFill>
                  <a:srgbClr val="171717"/>
                </a:solidFill>
                <a:latin typeface="Calibri Light"/>
                <a:ea typeface="Calibri Light"/>
              </a:rPr>
              <a:t>Expanded / Flexible</a:t>
            </a:r>
            <a:endParaRPr b="0" lang="en-US" sz="2400" spc="-1" strike="noStrike">
              <a:solidFill>
                <a:srgbClr val="000000"/>
              </a:solidFill>
              <a:latin typeface="Arial"/>
            </a:endParaRPr>
          </a:p>
        </p:txBody>
      </p:sp>
      <p:sp>
        <p:nvSpPr>
          <p:cNvPr id="87" name=""/>
          <p:cNvSpPr/>
          <p:nvPr/>
        </p:nvSpPr>
        <p:spPr>
          <a:xfrm>
            <a:off x="838080" y="3895560"/>
            <a:ext cx="4762080" cy="20761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250" spc="-1" strike="noStrike">
                <a:solidFill>
                  <a:srgbClr val="171717"/>
                </a:solidFill>
                <a:latin typeface="Calibri Light"/>
                <a:ea typeface="Calibri Light"/>
              </a:rPr>
              <a:t>Expanded lấp phần không gian được chia.</a:t>
            </a:r>
            <a:endParaRPr b="0" lang="en-US" sz="2250" spc="-1" strike="noStrike">
              <a:solidFill>
                <a:srgbClr val="000000"/>
              </a:solidFill>
              <a:latin typeface="Arial"/>
            </a:endParaRPr>
          </a:p>
          <a:p>
            <a:pPr>
              <a:lnSpc>
                <a:spcPct val="100000"/>
              </a:lnSpc>
            </a:pPr>
            <a:endParaRPr b="0" lang="en-US" sz="2250" spc="-1" strike="noStrike">
              <a:solidFill>
                <a:srgbClr val="000000"/>
              </a:solidFill>
              <a:latin typeface="Arial"/>
            </a:endParaRPr>
          </a:p>
          <a:p>
            <a:pPr>
              <a:lnSpc>
                <a:spcPct val="100000"/>
              </a:lnSpc>
            </a:pPr>
            <a:r>
              <a:rPr b="0" lang="en-US" sz="2250" spc="-1" strike="noStrike">
                <a:solidFill>
                  <a:srgbClr val="171717"/>
                </a:solidFill>
                <a:latin typeface="Calibri Light"/>
                <a:ea typeface="Calibri Light"/>
              </a:rPr>
              <a:t>Flexible cho phép widget con</a:t>
            </a:r>
            <a:endParaRPr b="0" lang="en-US" sz="2250" spc="-1" strike="noStrike">
              <a:solidFill>
                <a:srgbClr val="000000"/>
              </a:solidFill>
              <a:latin typeface="Arial"/>
            </a:endParaRPr>
          </a:p>
          <a:p>
            <a:pPr>
              <a:lnSpc>
                <a:spcPct val="100000"/>
              </a:lnSpc>
            </a:pPr>
            <a:r>
              <a:rPr b="0" lang="en-US" sz="2250" spc="-1" strike="noStrike">
                <a:solidFill>
                  <a:srgbClr val="171717"/>
                </a:solidFill>
                <a:latin typeface="Calibri Light"/>
                <a:ea typeface="Calibri Light"/>
              </a:rPr>
              <a:t>nhỏ hơn phần được chia.</a:t>
            </a:r>
            <a:endParaRPr b="0" lang="en-US" sz="2250" spc="-1" strike="noStrike">
              <a:solidFill>
                <a:srgbClr val="000000"/>
              </a:solidFill>
              <a:latin typeface="Arial"/>
            </a:endParaRPr>
          </a:p>
        </p:txBody>
      </p:sp>
      <p:sp>
        <p:nvSpPr>
          <p:cNvPr id="88" name=""/>
          <p:cNvSpPr/>
          <p:nvPr/>
        </p:nvSpPr>
        <p:spPr>
          <a:xfrm>
            <a:off x="6058080" y="1666800"/>
            <a:ext cx="5295600" cy="3457080"/>
          </a:xfrm>
          <a:prstGeom prst="rect">
            <a:avLst/>
          </a:prstGeom>
          <a:solidFill>
            <a:srgbClr val="252a30"/>
          </a:solidFill>
          <a:ln w="0">
            <a:noFill/>
          </a:ln>
        </p:spPr>
        <p:style>
          <a:lnRef idx="0"/>
          <a:fillRef idx="0"/>
          <a:effectRef idx="0"/>
          <a:fontRef idx="minor"/>
        </p:style>
        <p:txBody>
          <a:bodyPr wrap="none" lIns="209520" rIns="209520" tIns="209520" bIns="209520" anchor="t">
            <a:noAutofit/>
          </a:bodyPr>
          <a:p>
            <a:pPr>
              <a:lnSpc>
                <a:spcPct val="100000"/>
              </a:lnSpc>
            </a:pPr>
            <a:r>
              <a:rPr b="0" lang="en-US" sz="1870" spc="-1" strike="noStrike">
                <a:solidFill>
                  <a:srgbClr val="82aaff"/>
                </a:solidFill>
                <a:latin typeface="Arial"/>
                <a:ea typeface="Arial"/>
              </a:rPr>
              <a:t>Row</a:t>
            </a:r>
            <a:r>
              <a:rPr b="0" lang="en-US" sz="1870" spc="-1" strike="noStrike">
                <a:solidFill>
                  <a:srgbClr val="edeff3"/>
                </a:solidFill>
                <a:latin typeface="Arial"/>
                <a:ea typeface="Arial"/>
              </a:rPr>
              <a:t>(</a:t>
            </a:r>
            <a:endParaRPr b="0" lang="en-US" sz="1870" spc="-1" strike="noStrike">
              <a:solidFill>
                <a:srgbClr val="ffffff"/>
              </a:solidFill>
              <a:latin typeface="Arial"/>
            </a:endParaRPr>
          </a:p>
          <a:p>
            <a:pPr>
              <a:lnSpc>
                <a:spcPct val="100000"/>
              </a:lnSpc>
            </a:pPr>
            <a:r>
              <a:rPr b="0" lang="en-US" sz="1870" spc="-1" strike="noStrike">
                <a:solidFill>
                  <a:srgbClr val="edeff3"/>
                </a:solidFill>
                <a:latin typeface="Arial"/>
                <a:ea typeface="Arial"/>
              </a:rPr>
              <a:t>  </a:t>
            </a:r>
            <a:r>
              <a:rPr b="0" lang="en-US" sz="1870" spc="-1" strike="noStrike">
                <a:solidFill>
                  <a:srgbClr val="edeff3"/>
                </a:solidFill>
                <a:latin typeface="Arial"/>
                <a:ea typeface="Arial"/>
              </a:rPr>
              <a:t>children: [</a:t>
            </a:r>
            <a:endParaRPr b="0" lang="en-US" sz="1870" spc="-1" strike="noStrike">
              <a:solidFill>
                <a:srgbClr val="ffffff"/>
              </a:solidFill>
              <a:latin typeface="Arial"/>
            </a:endParaRPr>
          </a:p>
          <a:p>
            <a:pPr>
              <a:lnSpc>
                <a:spcPct val="100000"/>
              </a:lnSpc>
            </a:pPr>
            <a:r>
              <a:rPr b="0" lang="en-US" sz="1870" spc="-1" strike="noStrike">
                <a:solidFill>
                  <a:srgbClr val="edeff3"/>
                </a:solidFill>
                <a:latin typeface="Arial"/>
                <a:ea typeface="Arial"/>
              </a:rPr>
              <a:t>    </a:t>
            </a:r>
            <a:r>
              <a:rPr b="0" lang="en-US" sz="1870" spc="-1" strike="noStrike">
                <a:solidFill>
                  <a:srgbClr val="82aaff"/>
                </a:solidFill>
                <a:latin typeface="Arial"/>
                <a:ea typeface="Arial"/>
              </a:rPr>
              <a:t>Expanded</a:t>
            </a:r>
            <a:r>
              <a:rPr b="0" lang="en-US" sz="1870" spc="-1" strike="noStrike">
                <a:solidFill>
                  <a:srgbClr val="edeff3"/>
                </a:solidFill>
                <a:latin typeface="Arial"/>
                <a:ea typeface="Arial"/>
              </a:rPr>
              <a:t>(</a:t>
            </a:r>
            <a:endParaRPr b="0" lang="en-US" sz="1870" spc="-1" strike="noStrike">
              <a:solidFill>
                <a:srgbClr val="ffffff"/>
              </a:solidFill>
              <a:latin typeface="Arial"/>
            </a:endParaRPr>
          </a:p>
          <a:p>
            <a:pPr>
              <a:lnSpc>
                <a:spcPct val="100000"/>
              </a:lnSpc>
            </a:pPr>
            <a:r>
              <a:rPr b="0" lang="en-US" sz="1870" spc="-1" strike="noStrike">
                <a:solidFill>
                  <a:srgbClr val="edeff3"/>
                </a:solidFill>
                <a:latin typeface="Arial"/>
                <a:ea typeface="Arial"/>
              </a:rPr>
              <a:t>      </a:t>
            </a:r>
            <a:r>
              <a:rPr b="0" lang="en-US" sz="1870" spc="-1" strike="noStrike">
                <a:solidFill>
                  <a:srgbClr val="edeff3"/>
                </a:solidFill>
                <a:latin typeface="Arial"/>
                <a:ea typeface="Arial"/>
              </a:rPr>
              <a:t>child: Text('Tên công việc'),</a:t>
            </a:r>
            <a:endParaRPr b="0" lang="en-US" sz="1870" spc="-1" strike="noStrike">
              <a:solidFill>
                <a:srgbClr val="ffffff"/>
              </a:solidFill>
              <a:latin typeface="Arial"/>
            </a:endParaRPr>
          </a:p>
          <a:p>
            <a:pPr>
              <a:lnSpc>
                <a:spcPct val="100000"/>
              </a:lnSpc>
            </a:pPr>
            <a:r>
              <a:rPr b="0" lang="en-US" sz="1870" spc="-1" strike="noStrike">
                <a:solidFill>
                  <a:srgbClr val="edeff3"/>
                </a:solidFill>
                <a:latin typeface="Arial"/>
                <a:ea typeface="Arial"/>
              </a:rPr>
              <a:t>    </a:t>
            </a:r>
            <a:r>
              <a:rPr b="0" lang="en-US" sz="1870" spc="-1" strike="noStrike">
                <a:solidFill>
                  <a:srgbClr val="edeff3"/>
                </a:solidFill>
                <a:latin typeface="Arial"/>
                <a:ea typeface="Arial"/>
              </a:rPr>
              <a:t>),</a:t>
            </a:r>
            <a:endParaRPr b="0" lang="en-US" sz="1870" spc="-1" strike="noStrike">
              <a:solidFill>
                <a:srgbClr val="ffffff"/>
              </a:solidFill>
              <a:latin typeface="Arial"/>
            </a:endParaRPr>
          </a:p>
          <a:p>
            <a:pPr>
              <a:lnSpc>
                <a:spcPct val="100000"/>
              </a:lnSpc>
            </a:pPr>
            <a:r>
              <a:rPr b="0" lang="en-US" sz="1870" spc="-1" strike="noStrike">
                <a:solidFill>
                  <a:srgbClr val="edeff3"/>
                </a:solidFill>
                <a:latin typeface="Arial"/>
                <a:ea typeface="Arial"/>
              </a:rPr>
              <a:t>    </a:t>
            </a:r>
            <a:r>
              <a:rPr b="0" lang="en-US" sz="1870" spc="-1" strike="noStrike">
                <a:solidFill>
                  <a:srgbClr val="edeff3"/>
                </a:solidFill>
                <a:latin typeface="Arial"/>
                <a:ea typeface="Arial"/>
              </a:rPr>
              <a:t>Icon(Icons.more_horiz),</a:t>
            </a:r>
            <a:endParaRPr b="0" lang="en-US" sz="1870" spc="-1" strike="noStrike">
              <a:solidFill>
                <a:srgbClr val="ffffff"/>
              </a:solidFill>
              <a:latin typeface="Arial"/>
            </a:endParaRPr>
          </a:p>
          <a:p>
            <a:pPr>
              <a:lnSpc>
                <a:spcPct val="100000"/>
              </a:lnSpc>
            </a:pPr>
            <a:r>
              <a:rPr b="0" lang="en-US" sz="1870" spc="-1" strike="noStrike">
                <a:solidFill>
                  <a:srgbClr val="edeff3"/>
                </a:solidFill>
                <a:latin typeface="Arial"/>
                <a:ea typeface="Arial"/>
              </a:rPr>
              <a:t>  </a:t>
            </a:r>
            <a:r>
              <a:rPr b="0" lang="en-US" sz="1870" spc="-1" strike="noStrike">
                <a:solidFill>
                  <a:srgbClr val="edeff3"/>
                </a:solidFill>
                <a:latin typeface="Arial"/>
                <a:ea typeface="Arial"/>
              </a:rPr>
              <a:t>],</a:t>
            </a:r>
            <a:endParaRPr b="0" lang="en-US" sz="1870" spc="-1" strike="noStrike">
              <a:solidFill>
                <a:srgbClr val="ffffff"/>
              </a:solidFill>
              <a:latin typeface="Arial"/>
            </a:endParaRPr>
          </a:p>
          <a:p>
            <a:pPr>
              <a:lnSpc>
                <a:spcPct val="100000"/>
              </a:lnSpc>
            </a:pPr>
            <a:r>
              <a:rPr b="0" lang="en-US" sz="1870" spc="-1" strike="noStrike">
                <a:solidFill>
                  <a:srgbClr val="edeff3"/>
                </a:solidFill>
                <a:latin typeface="Arial"/>
                <a:ea typeface="Arial"/>
              </a:rPr>
              <a:t>)</a:t>
            </a:r>
            <a:endParaRPr b="0" lang="en-US" sz="187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9" name=""/>
          <p:cNvSpPr/>
          <p:nvPr/>
        </p:nvSpPr>
        <p:spPr>
          <a:xfrm>
            <a:off x="762120" y="380880"/>
            <a:ext cx="106675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3230" spc="-1" strike="noStrike">
                <a:solidFill>
                  <a:srgbClr val="171717"/>
                </a:solidFill>
                <a:latin typeface="Calibri Light"/>
                <a:ea typeface="Calibri Light"/>
              </a:rPr>
              <a:t>3.2. GridView và số cột</a:t>
            </a:r>
            <a:endParaRPr b="0" lang="en-US" sz="3230" spc="-1" strike="noStrike">
              <a:solidFill>
                <a:srgbClr val="000000"/>
              </a:solidFill>
              <a:latin typeface="Arial"/>
            </a:endParaRPr>
          </a:p>
        </p:txBody>
      </p:sp>
      <p:sp>
        <p:nvSpPr>
          <p:cNvPr id="90" name=""/>
          <p:cNvSpPr/>
          <p:nvPr/>
        </p:nvSpPr>
        <p:spPr>
          <a:xfrm>
            <a:off x="838080" y="6448320"/>
            <a:ext cx="952452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6e6368"/>
                </a:solidFill>
                <a:latin typeface="Calibri Light"/>
                <a:ea typeface="Calibri Light"/>
              </a:rPr>
              <a:t>Chủ đề 03: Responsive và Adaptive UI trong Flutter</a:t>
            </a:r>
            <a:endParaRPr b="0" lang="en-US" sz="1000" spc="-1" strike="noStrike">
              <a:solidFill>
                <a:srgbClr val="000000"/>
              </a:solidFill>
              <a:latin typeface="Arial"/>
            </a:endParaRPr>
          </a:p>
        </p:txBody>
      </p:sp>
      <p:sp>
        <p:nvSpPr>
          <p:cNvPr id="91" name=""/>
          <p:cNvSpPr/>
          <p:nvPr/>
        </p:nvSpPr>
        <p:spPr>
          <a:xfrm>
            <a:off x="10839600" y="6448320"/>
            <a:ext cx="514080" cy="209160"/>
          </a:xfrm>
          <a:prstGeom prst="rect">
            <a:avLst/>
          </a:prstGeom>
          <a:noFill/>
          <a:ln w="0">
            <a:noFill/>
          </a:ln>
        </p:spPr>
        <p:style>
          <a:lnRef idx="0"/>
          <a:fillRef idx="0"/>
          <a:effectRef idx="0"/>
          <a:fontRef idx="minor"/>
        </p:style>
        <p:txBody>
          <a:bodyPr lIns="0" rIns="0" tIns="0" bIns="0" anchor="t">
            <a:noAutofit/>
          </a:bodyPr>
          <a:p>
            <a:pPr algn="r">
              <a:lnSpc>
                <a:spcPct val="100000"/>
              </a:lnSpc>
            </a:pPr>
            <a:r>
              <a:rPr b="0" lang="en-US" sz="1250" spc="-1" strike="noStrike">
                <a:solidFill>
                  <a:srgbClr val="6e6368"/>
                </a:solidFill>
                <a:latin typeface="Calibri Light"/>
                <a:ea typeface="Calibri Light"/>
              </a:rPr>
              <a:t>12</a:t>
            </a:r>
            <a:endParaRPr b="0" lang="en-US" sz="1250" spc="-1" strike="noStrike">
              <a:solidFill>
                <a:srgbClr val="000000"/>
              </a:solidFill>
              <a:latin typeface="Arial"/>
            </a:endParaRPr>
          </a:p>
        </p:txBody>
      </p:sp>
      <p:sp>
        <p:nvSpPr>
          <p:cNvPr id="92" name=""/>
          <p:cNvSpPr/>
          <p:nvPr/>
        </p:nvSpPr>
        <p:spPr>
          <a:xfrm>
            <a:off x="838080" y="1238400"/>
            <a:ext cx="10515240" cy="6091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400" spc="-1" strike="noStrike">
                <a:solidFill>
                  <a:srgbClr val="171717"/>
                </a:solidFill>
                <a:latin typeface="Calibri Light"/>
                <a:ea typeface="Calibri Light"/>
              </a:rPr>
              <a:t>GridView sắp xếp các phần tử theo lưới và hỗ trợ cuộn.</a:t>
            </a:r>
            <a:endParaRPr b="0" lang="en-US" sz="2400" spc="-1" strike="noStrike">
              <a:solidFill>
                <a:srgbClr val="000000"/>
              </a:solidFill>
              <a:latin typeface="Arial"/>
            </a:endParaRPr>
          </a:p>
        </p:txBody>
      </p:sp>
      <p:sp>
        <p:nvSpPr>
          <p:cNvPr id="93" name=""/>
          <p:cNvSpPr/>
          <p:nvPr/>
        </p:nvSpPr>
        <p:spPr>
          <a:xfrm>
            <a:off x="838080" y="2286000"/>
            <a:ext cx="6190920" cy="2695320"/>
          </a:xfrm>
          <a:prstGeom prst="rect">
            <a:avLst/>
          </a:prstGeom>
          <a:solidFill>
            <a:srgbClr val="252a30"/>
          </a:solidFill>
          <a:ln w="0">
            <a:noFill/>
          </a:ln>
        </p:spPr>
        <p:style>
          <a:lnRef idx="0"/>
          <a:fillRef idx="0"/>
          <a:effectRef idx="0"/>
          <a:fontRef idx="minor"/>
        </p:style>
        <p:txBody>
          <a:bodyPr wrap="none" lIns="209520" rIns="209520" tIns="209520" bIns="209520" anchor="t">
            <a:noAutofit/>
          </a:bodyPr>
          <a:p>
            <a:pPr>
              <a:lnSpc>
                <a:spcPct val="100000"/>
              </a:lnSpc>
            </a:pPr>
            <a:r>
              <a:rPr b="0" lang="en-US" sz="2100" spc="-1" strike="noStrike">
                <a:solidFill>
                  <a:srgbClr val="82aaff"/>
                </a:solidFill>
                <a:latin typeface="Arial"/>
                <a:ea typeface="Arial"/>
              </a:rPr>
              <a:t>GridView</a:t>
            </a:r>
            <a:r>
              <a:rPr b="0" lang="en-US" sz="2100" spc="-1" strike="noStrike">
                <a:solidFill>
                  <a:srgbClr val="edeff3"/>
                </a:solidFill>
                <a:latin typeface="Arial"/>
                <a:ea typeface="Arial"/>
              </a:rPr>
              <a:t>.count(</a:t>
            </a:r>
            <a:endParaRPr b="0" lang="en-US" sz="2100" spc="-1" strike="noStrike">
              <a:solidFill>
                <a:srgbClr val="ffffff"/>
              </a:solidFill>
              <a:latin typeface="Arial"/>
            </a:endParaRPr>
          </a:p>
          <a:p>
            <a:pPr>
              <a:lnSpc>
                <a:spcPct val="100000"/>
              </a:lnSpc>
            </a:pPr>
            <a:r>
              <a:rPr b="0" lang="en-US" sz="2100" spc="-1" strike="noStrike">
                <a:solidFill>
                  <a:srgbClr val="edeff3"/>
                </a:solidFill>
                <a:latin typeface="Arial"/>
                <a:ea typeface="Arial"/>
              </a:rPr>
              <a:t>  </a:t>
            </a:r>
            <a:r>
              <a:rPr b="0" lang="en-US" sz="2100" spc="-1" strike="noStrike">
                <a:solidFill>
                  <a:srgbClr val="edeff3"/>
                </a:solidFill>
                <a:latin typeface="Arial"/>
                <a:ea typeface="Arial"/>
              </a:rPr>
              <a:t>crossAxisCount: columns,</a:t>
            </a:r>
            <a:endParaRPr b="0" lang="en-US" sz="2100" spc="-1" strike="noStrike">
              <a:solidFill>
                <a:srgbClr val="ffffff"/>
              </a:solidFill>
              <a:latin typeface="Arial"/>
            </a:endParaRPr>
          </a:p>
          <a:p>
            <a:pPr>
              <a:lnSpc>
                <a:spcPct val="100000"/>
              </a:lnSpc>
            </a:pPr>
            <a:r>
              <a:rPr b="0" lang="en-US" sz="2100" spc="-1" strike="noStrike">
                <a:solidFill>
                  <a:srgbClr val="edeff3"/>
                </a:solidFill>
                <a:latin typeface="Arial"/>
                <a:ea typeface="Arial"/>
              </a:rPr>
              <a:t>  </a:t>
            </a:r>
            <a:r>
              <a:rPr b="0" lang="en-US" sz="2100" spc="-1" strike="noStrike">
                <a:solidFill>
                  <a:srgbClr val="edeff3"/>
                </a:solidFill>
                <a:latin typeface="Arial"/>
                <a:ea typeface="Arial"/>
              </a:rPr>
              <a:t>crossAxisSpacing: 16,</a:t>
            </a:r>
            <a:endParaRPr b="0" lang="en-US" sz="2100" spc="-1" strike="noStrike">
              <a:solidFill>
                <a:srgbClr val="ffffff"/>
              </a:solidFill>
              <a:latin typeface="Arial"/>
            </a:endParaRPr>
          </a:p>
          <a:p>
            <a:pPr>
              <a:lnSpc>
                <a:spcPct val="100000"/>
              </a:lnSpc>
            </a:pPr>
            <a:r>
              <a:rPr b="0" lang="en-US" sz="2100" spc="-1" strike="noStrike">
                <a:solidFill>
                  <a:srgbClr val="edeff3"/>
                </a:solidFill>
                <a:latin typeface="Arial"/>
                <a:ea typeface="Arial"/>
              </a:rPr>
              <a:t>  </a:t>
            </a:r>
            <a:r>
              <a:rPr b="0" lang="en-US" sz="2100" spc="-1" strike="noStrike">
                <a:solidFill>
                  <a:srgbClr val="edeff3"/>
                </a:solidFill>
                <a:latin typeface="Arial"/>
                <a:ea typeface="Arial"/>
              </a:rPr>
              <a:t>mainAxisSpacing: 16,</a:t>
            </a:r>
            <a:endParaRPr b="0" lang="en-US" sz="2100" spc="-1" strike="noStrike">
              <a:solidFill>
                <a:srgbClr val="ffffff"/>
              </a:solidFill>
              <a:latin typeface="Arial"/>
            </a:endParaRPr>
          </a:p>
          <a:p>
            <a:pPr>
              <a:lnSpc>
                <a:spcPct val="100000"/>
              </a:lnSpc>
            </a:pPr>
            <a:r>
              <a:rPr b="0" lang="en-US" sz="2100" spc="-1" strike="noStrike">
                <a:solidFill>
                  <a:srgbClr val="edeff3"/>
                </a:solidFill>
                <a:latin typeface="Arial"/>
                <a:ea typeface="Arial"/>
              </a:rPr>
              <a:t>  </a:t>
            </a:r>
            <a:r>
              <a:rPr b="0" lang="en-US" sz="2100" spc="-1" strike="noStrike">
                <a:solidFill>
                  <a:srgbClr val="edeff3"/>
                </a:solidFill>
                <a:latin typeface="Arial"/>
                <a:ea typeface="Arial"/>
              </a:rPr>
              <a:t>children: items,</a:t>
            </a:r>
            <a:endParaRPr b="0" lang="en-US" sz="2100" spc="-1" strike="noStrike">
              <a:solidFill>
                <a:srgbClr val="ffffff"/>
              </a:solidFill>
              <a:latin typeface="Arial"/>
            </a:endParaRPr>
          </a:p>
          <a:p>
            <a:pPr>
              <a:lnSpc>
                <a:spcPct val="100000"/>
              </a:lnSpc>
            </a:pPr>
            <a:r>
              <a:rPr b="0" lang="en-US" sz="2100" spc="-1" strike="noStrike">
                <a:solidFill>
                  <a:srgbClr val="edeff3"/>
                </a:solidFill>
                <a:latin typeface="Arial"/>
                <a:ea typeface="Arial"/>
              </a:rPr>
              <a:t>)</a:t>
            </a:r>
            <a:endParaRPr b="0" lang="en-US" sz="2100" spc="-1" strike="noStrike">
              <a:solidFill>
                <a:srgbClr val="ffffff"/>
              </a:solidFill>
              <a:latin typeface="Arial"/>
            </a:endParaRPr>
          </a:p>
        </p:txBody>
      </p:sp>
      <p:sp>
        <p:nvSpPr>
          <p:cNvPr id="94" name=""/>
          <p:cNvSpPr/>
          <p:nvPr/>
        </p:nvSpPr>
        <p:spPr>
          <a:xfrm>
            <a:off x="7524720" y="2286000"/>
            <a:ext cx="3828600" cy="456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250" spc="-1" strike="noStrike">
                <a:solidFill>
                  <a:srgbClr val="171717"/>
                </a:solidFill>
                <a:latin typeface="Calibri Light"/>
                <a:ea typeface="Calibri Light"/>
              </a:rPr>
              <a:t>crossAxisCount</a:t>
            </a:r>
            <a:endParaRPr b="0" lang="en-US" sz="2250" spc="-1" strike="noStrike">
              <a:solidFill>
                <a:srgbClr val="000000"/>
              </a:solidFill>
              <a:latin typeface="Arial"/>
            </a:endParaRPr>
          </a:p>
        </p:txBody>
      </p:sp>
      <p:sp>
        <p:nvSpPr>
          <p:cNvPr id="95" name=""/>
          <p:cNvSpPr/>
          <p:nvPr/>
        </p:nvSpPr>
        <p:spPr>
          <a:xfrm>
            <a:off x="7524720" y="2819520"/>
            <a:ext cx="3828600" cy="8665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170" spc="-1" strike="noStrike">
                <a:solidFill>
                  <a:srgbClr val="171717"/>
                </a:solidFill>
                <a:latin typeface="Calibri Light"/>
                <a:ea typeface="Calibri Light"/>
              </a:rPr>
              <a:t>Số cột theo chiều ngang</a:t>
            </a:r>
            <a:endParaRPr b="0" lang="en-US" sz="2170" spc="-1" strike="noStrike">
              <a:solidFill>
                <a:srgbClr val="000000"/>
              </a:solidFill>
              <a:latin typeface="Arial"/>
            </a:endParaRPr>
          </a:p>
          <a:p>
            <a:pPr>
              <a:lnSpc>
                <a:spcPct val="100000"/>
              </a:lnSpc>
            </a:pPr>
            <a:r>
              <a:rPr b="0" lang="en-US" sz="2170" spc="-1" strike="noStrike">
                <a:solidFill>
                  <a:srgbClr val="171717"/>
                </a:solidFill>
                <a:latin typeface="Calibri Light"/>
                <a:ea typeface="Calibri Light"/>
              </a:rPr>
              <a:t>khi lưới cuộn dọc.</a:t>
            </a:r>
            <a:endParaRPr b="0" lang="en-US" sz="2170" spc="-1" strike="noStrike">
              <a:solidFill>
                <a:srgbClr val="000000"/>
              </a:solidFill>
              <a:latin typeface="Arial"/>
            </a:endParaRPr>
          </a:p>
        </p:txBody>
      </p:sp>
      <p:sp>
        <p:nvSpPr>
          <p:cNvPr id="96" name=""/>
          <p:cNvSpPr/>
          <p:nvPr/>
        </p:nvSpPr>
        <p:spPr>
          <a:xfrm>
            <a:off x="7524720" y="4057560"/>
            <a:ext cx="3828600" cy="45684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2250" spc="-1" strike="noStrike">
                <a:solidFill>
                  <a:srgbClr val="171717"/>
                </a:solidFill>
                <a:latin typeface="Calibri Light"/>
                <a:ea typeface="Calibri Light"/>
              </a:rPr>
              <a:t>Khoảng cách giữa các ô</a:t>
            </a:r>
            <a:endParaRPr b="0" lang="en-US" sz="2250" spc="-1" strike="noStrike">
              <a:solidFill>
                <a:srgbClr val="000000"/>
              </a:solidFill>
              <a:latin typeface="Arial"/>
            </a:endParaRPr>
          </a:p>
        </p:txBody>
      </p:sp>
      <p:sp>
        <p:nvSpPr>
          <p:cNvPr id="97" name=""/>
          <p:cNvSpPr/>
          <p:nvPr/>
        </p:nvSpPr>
        <p:spPr>
          <a:xfrm>
            <a:off x="7524720" y="4600440"/>
            <a:ext cx="3828600" cy="8758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170" spc="-1" strike="noStrike">
                <a:solidFill>
                  <a:srgbClr val="171717"/>
                </a:solidFill>
                <a:latin typeface="Calibri Light"/>
                <a:ea typeface="Calibri Light"/>
              </a:rPr>
              <a:t>crossAxisSpacing và</a:t>
            </a:r>
            <a:endParaRPr b="0" lang="en-US" sz="2170" spc="-1" strike="noStrike">
              <a:solidFill>
                <a:srgbClr val="000000"/>
              </a:solidFill>
              <a:latin typeface="Arial"/>
            </a:endParaRPr>
          </a:p>
          <a:p>
            <a:pPr>
              <a:lnSpc>
                <a:spcPct val="100000"/>
              </a:lnSpc>
            </a:pPr>
            <a:r>
              <a:rPr b="0" lang="en-US" sz="2170" spc="-1" strike="noStrike">
                <a:solidFill>
                  <a:srgbClr val="171717"/>
                </a:solidFill>
                <a:latin typeface="Calibri Light"/>
                <a:ea typeface="Calibri Light"/>
              </a:rPr>
              <a:t>mainAxisSpacing.</a:t>
            </a:r>
            <a:endParaRPr b="0" lang="en-US" sz="2170" spc="-1" strike="noStrike">
              <a:solidFill>
                <a:srgbClr val="000000"/>
              </a:solidFill>
              <a:latin typeface="Arial"/>
            </a:endParaRPr>
          </a:p>
        </p:txBody>
      </p:sp>
      <p:sp>
        <p:nvSpPr>
          <p:cNvPr id="98" name=""/>
          <p:cNvSpPr/>
          <p:nvPr/>
        </p:nvSpPr>
        <p:spPr>
          <a:xfrm>
            <a:off x="838080" y="5724360"/>
            <a:ext cx="10515240" cy="5522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170" spc="-1" strike="noStrike">
                <a:solidFill>
                  <a:srgbClr val="171717"/>
                </a:solidFill>
                <a:latin typeface="Calibri Light"/>
                <a:ea typeface="Calibri Light"/>
              </a:rPr>
              <a:t>columns được chọn từ chiều rộng khả dụng bằng breakpoint.</a:t>
            </a:r>
            <a:endParaRPr b="0" lang="en-US" sz="21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
          <p:cNvSpPr/>
          <p:nvPr/>
        </p:nvSpPr>
        <p:spPr>
          <a:xfrm>
            <a:off x="762120" y="380880"/>
            <a:ext cx="106675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3230" spc="-1" strike="noStrike">
                <a:solidFill>
                  <a:srgbClr val="171717"/>
                </a:solidFill>
                <a:latin typeface="Calibri Light"/>
                <a:ea typeface="Calibri Light"/>
              </a:rPr>
              <a:t>3.3. NavigationBar và NavigationRail</a:t>
            </a:r>
            <a:endParaRPr b="0" lang="en-US" sz="3230" spc="-1" strike="noStrike">
              <a:solidFill>
                <a:srgbClr val="000000"/>
              </a:solidFill>
              <a:latin typeface="Arial"/>
            </a:endParaRPr>
          </a:p>
        </p:txBody>
      </p:sp>
      <p:sp>
        <p:nvSpPr>
          <p:cNvPr id="100" name=""/>
          <p:cNvSpPr/>
          <p:nvPr/>
        </p:nvSpPr>
        <p:spPr>
          <a:xfrm>
            <a:off x="838080" y="6448320"/>
            <a:ext cx="952452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6e6368"/>
                </a:solidFill>
                <a:latin typeface="Calibri Light"/>
                <a:ea typeface="Calibri Light"/>
              </a:rPr>
              <a:t>Chủ đề 03: Responsive và Adaptive UI trong Flutter</a:t>
            </a:r>
            <a:endParaRPr b="0" lang="en-US" sz="1000" spc="-1" strike="noStrike">
              <a:solidFill>
                <a:srgbClr val="000000"/>
              </a:solidFill>
              <a:latin typeface="Arial"/>
            </a:endParaRPr>
          </a:p>
        </p:txBody>
      </p:sp>
      <p:sp>
        <p:nvSpPr>
          <p:cNvPr id="101" name=""/>
          <p:cNvSpPr/>
          <p:nvPr/>
        </p:nvSpPr>
        <p:spPr>
          <a:xfrm>
            <a:off x="10839600" y="6448320"/>
            <a:ext cx="514080" cy="209160"/>
          </a:xfrm>
          <a:prstGeom prst="rect">
            <a:avLst/>
          </a:prstGeom>
          <a:noFill/>
          <a:ln w="0">
            <a:noFill/>
          </a:ln>
        </p:spPr>
        <p:style>
          <a:lnRef idx="0"/>
          <a:fillRef idx="0"/>
          <a:effectRef idx="0"/>
          <a:fontRef idx="minor"/>
        </p:style>
        <p:txBody>
          <a:bodyPr lIns="0" rIns="0" tIns="0" bIns="0" anchor="t">
            <a:noAutofit/>
          </a:bodyPr>
          <a:p>
            <a:pPr algn="r">
              <a:lnSpc>
                <a:spcPct val="100000"/>
              </a:lnSpc>
            </a:pPr>
            <a:r>
              <a:rPr b="0" lang="en-US" sz="1250" spc="-1" strike="noStrike">
                <a:solidFill>
                  <a:srgbClr val="6e6368"/>
                </a:solidFill>
                <a:latin typeface="Calibri Light"/>
                <a:ea typeface="Calibri Light"/>
              </a:rPr>
              <a:t>13</a:t>
            </a:r>
            <a:endParaRPr b="0" lang="en-US" sz="1250" spc="-1" strike="noStrike">
              <a:solidFill>
                <a:srgbClr val="000000"/>
              </a:solidFill>
              <a:latin typeface="Arial"/>
            </a:endParaRPr>
          </a:p>
        </p:txBody>
      </p:sp>
      <p:sp>
        <p:nvSpPr>
          <p:cNvPr id="102" name=""/>
          <p:cNvSpPr/>
          <p:nvPr/>
        </p:nvSpPr>
        <p:spPr>
          <a:xfrm>
            <a:off x="838080" y="1238400"/>
            <a:ext cx="10515240" cy="6663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400" spc="-1" strike="noStrike">
                <a:solidFill>
                  <a:srgbClr val="171717"/>
                </a:solidFill>
                <a:latin typeface="Calibri Light"/>
                <a:ea typeface="Calibri Light"/>
              </a:rPr>
              <a:t>Hai widget giúp thay đổi cách điều hướng theo không gian.</a:t>
            </a:r>
            <a:endParaRPr b="0" lang="en-US" sz="2400" spc="-1" strike="noStrike">
              <a:solidFill>
                <a:srgbClr val="000000"/>
              </a:solidFill>
              <a:latin typeface="Arial"/>
            </a:endParaRPr>
          </a:p>
        </p:txBody>
      </p:sp>
      <p:graphicFrame>
        <p:nvGraphicFramePr>
          <p:cNvPr id="103" name=""/>
          <p:cNvGraphicFramePr/>
          <p:nvPr/>
        </p:nvGraphicFramePr>
        <p:xfrm>
          <a:off x="838080" y="2286000"/>
          <a:ext cx="10515240" cy="3057120"/>
        </p:xfrm>
        <a:graphic>
          <a:graphicData uri="http://schemas.openxmlformats.org/drawingml/2006/table">
            <a:tbl>
              <a:tblPr/>
              <a:tblGrid>
                <a:gridCol w="3333600"/>
                <a:gridCol w="7181640"/>
              </a:tblGrid>
              <a:tr h="628560">
                <a:tc>
                  <a:txBody>
                    <a:bodyPr anchor="ctr">
                      <a:noAutofit/>
                    </a:bodyPr>
                    <a:p>
                      <a:pPr>
                        <a:lnSpc>
                          <a:spcPct val="100000"/>
                        </a:lnSpc>
                      </a:pPr>
                      <a:r>
                        <a:rPr b="1" lang="en-US" sz="2170" spc="-1" strike="noStrike">
                          <a:solidFill>
                            <a:srgbClr val="ffffff"/>
                          </a:solidFill>
                          <a:latin typeface="Calibri Light"/>
                          <a:ea typeface="Calibri Light"/>
                        </a:rPr>
                        <a:t>KHÔNG GIAN CỬA SỔ</a:t>
                      </a:r>
                      <a:endParaRPr b="0" lang="en-US" sz="2170" spc="-1" strike="noStrike">
                        <a:solidFill>
                          <a:srgbClr val="ffffff"/>
                        </a:solidFill>
                        <a:latin typeface="Arial"/>
                      </a:endParaRPr>
                    </a:p>
                  </a:txBody>
                  <a:tcPr anchor="ctr" marL="91440" marR="91440">
                    <a:lnL w="14400">
                      <a:solidFill>
                        <a:srgbClr val="ffffff"/>
                      </a:solidFill>
                      <a:prstDash val="solid"/>
                    </a:lnL>
                    <a:lnR w="14400">
                      <a:solidFill>
                        <a:srgbClr val="ffffff"/>
                      </a:solidFill>
                      <a:prstDash val="solid"/>
                    </a:lnR>
                    <a:lnT w="14400">
                      <a:solidFill>
                        <a:srgbClr val="ffffff"/>
                      </a:solidFill>
                      <a:prstDash val="solid"/>
                    </a:lnT>
                    <a:lnB w="14400">
                      <a:solidFill>
                        <a:srgbClr val="ffffff"/>
                      </a:solidFill>
                      <a:prstDash val="solid"/>
                    </a:lnB>
                    <a:solidFill>
                      <a:srgbClr val="4472c4"/>
                    </a:solidFill>
                  </a:tcPr>
                </a:tc>
                <a:tc>
                  <a:txBody>
                    <a:bodyPr anchor="ctr">
                      <a:noAutofit/>
                    </a:bodyPr>
                    <a:p>
                      <a:pPr>
                        <a:lnSpc>
                          <a:spcPct val="100000"/>
                        </a:lnSpc>
                      </a:pPr>
                      <a:r>
                        <a:rPr b="1" lang="en-US" sz="2170" spc="-1" strike="noStrike">
                          <a:solidFill>
                            <a:srgbClr val="ffffff"/>
                          </a:solidFill>
                          <a:latin typeface="Calibri Light"/>
                          <a:ea typeface="Calibri Light"/>
                        </a:rPr>
                        <a:t>WIDGET ĐIỀU HƯỚNG</a:t>
                      </a:r>
                      <a:endParaRPr b="0" lang="en-US" sz="2170" spc="-1" strike="noStrike">
                        <a:solidFill>
                          <a:srgbClr val="ffffff"/>
                        </a:solidFill>
                        <a:latin typeface="Arial"/>
                      </a:endParaRPr>
                    </a:p>
                  </a:txBody>
                  <a:tcPr anchor="ctr" marL="91440" marR="91440">
                    <a:lnL w="12240">
                      <a:solidFill>
                        <a:srgbClr val="000000"/>
                      </a:solidFill>
                      <a:prstDash val="solid"/>
                    </a:lnL>
                    <a:lnR w="14400">
                      <a:solidFill>
                        <a:srgbClr val="ffffff"/>
                      </a:solidFill>
                      <a:prstDash val="solid"/>
                    </a:lnR>
                    <a:lnT w="14400">
                      <a:solidFill>
                        <a:srgbClr val="ffffff"/>
                      </a:solidFill>
                      <a:prstDash val="solid"/>
                    </a:lnT>
                    <a:lnB w="14400">
                      <a:solidFill>
                        <a:srgbClr val="ffffff"/>
                      </a:solidFill>
                      <a:prstDash val="solid"/>
                    </a:lnB>
                    <a:solidFill>
                      <a:srgbClr val="4472c4"/>
                    </a:solidFill>
                  </a:tcPr>
                </a:tc>
              </a:tr>
              <a:tr h="809280">
                <a:tc>
                  <a:txBody>
                    <a:bodyPr anchor="ctr">
                      <a:noAutofit/>
                    </a:bodyPr>
                    <a:p>
                      <a:pPr>
                        <a:lnSpc>
                          <a:spcPct val="100000"/>
                        </a:lnSpc>
                      </a:pPr>
                      <a:r>
                        <a:rPr b="0" lang="en-US" sz="2170" spc="-1" strike="noStrike">
                          <a:solidFill>
                            <a:srgbClr val="171717"/>
                          </a:solidFill>
                          <a:latin typeface="Calibri Light"/>
                          <a:ea typeface="Calibri Light"/>
                        </a:rPr>
                        <a:t>Hẹp</a:t>
                      </a:r>
                      <a:endParaRPr b="0" lang="en-US" sz="217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70" spc="-1" strike="noStrike">
                          <a:solidFill>
                            <a:srgbClr val="171717"/>
                          </a:solidFill>
                          <a:latin typeface="Calibri Light"/>
                          <a:ea typeface="Calibri Light"/>
                        </a:rPr>
                        <a:t>NavigationBar ở phía dưới</a:t>
                      </a:r>
                      <a:endParaRPr b="0" lang="en-US" sz="217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r>
              <a:tr h="809280">
                <a:tc>
                  <a:txBody>
                    <a:bodyPr anchor="ctr">
                      <a:noAutofit/>
                    </a:bodyPr>
                    <a:p>
                      <a:pPr>
                        <a:lnSpc>
                          <a:spcPct val="100000"/>
                        </a:lnSpc>
                      </a:pPr>
                      <a:r>
                        <a:rPr b="0" lang="en-US" sz="2170" spc="-1" strike="noStrike">
                          <a:solidFill>
                            <a:srgbClr val="171717"/>
                          </a:solidFill>
                          <a:latin typeface="Calibri Light"/>
                          <a:ea typeface="Calibri Light"/>
                        </a:rPr>
                        <a:t>Vừa</a:t>
                      </a:r>
                      <a:endParaRPr b="0" lang="en-US" sz="217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e9ecf5"/>
                    </a:solidFill>
                  </a:tcPr>
                </a:tc>
                <a:tc>
                  <a:txBody>
                    <a:bodyPr anchor="ctr">
                      <a:noAutofit/>
                    </a:bodyPr>
                    <a:p>
                      <a:pPr>
                        <a:lnSpc>
                          <a:spcPct val="100000"/>
                        </a:lnSpc>
                      </a:pPr>
                      <a:r>
                        <a:rPr b="0" lang="en-US" sz="2170" spc="-1" strike="noStrike">
                          <a:solidFill>
                            <a:srgbClr val="171717"/>
                          </a:solidFill>
                          <a:latin typeface="Calibri Light"/>
                          <a:ea typeface="Calibri Light"/>
                        </a:rPr>
                        <a:t>NavigationRail thu gọn ở bên cạnh</a:t>
                      </a:r>
                      <a:endParaRPr b="0" lang="en-US" sz="217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e9ecf5"/>
                    </a:solidFill>
                  </a:tcPr>
                </a:tc>
              </a:tr>
              <a:tr h="809280">
                <a:tc>
                  <a:txBody>
                    <a:bodyPr anchor="ctr">
                      <a:noAutofit/>
                    </a:bodyPr>
                    <a:p>
                      <a:pPr>
                        <a:lnSpc>
                          <a:spcPct val="100000"/>
                        </a:lnSpc>
                      </a:pPr>
                      <a:r>
                        <a:rPr b="0" lang="en-US" sz="2170" spc="-1" strike="noStrike">
                          <a:solidFill>
                            <a:srgbClr val="171717"/>
                          </a:solidFill>
                          <a:latin typeface="Calibri Light"/>
                          <a:ea typeface="Calibri Light"/>
                        </a:rPr>
                        <a:t>Rộng</a:t>
                      </a:r>
                      <a:endParaRPr b="0" lang="en-US" sz="217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70" spc="-1" strike="noStrike">
                          <a:solidFill>
                            <a:srgbClr val="171717"/>
                          </a:solidFill>
                          <a:latin typeface="Calibri Light"/>
                          <a:ea typeface="Calibri Light"/>
                        </a:rPr>
                        <a:t>NavigationRail với extended: true</a:t>
                      </a:r>
                      <a:endParaRPr b="0" lang="en-US" sz="217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r>
            </a:tbl>
          </a:graphicData>
        </a:graphic>
      </p:graphicFrame>
      <p:sp>
        <p:nvSpPr>
          <p:cNvPr id="104" name=""/>
          <p:cNvSpPr/>
          <p:nvPr/>
        </p:nvSpPr>
        <p:spPr>
          <a:xfrm>
            <a:off x="838080" y="5810400"/>
            <a:ext cx="10515240" cy="5043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170" spc="-1" strike="noStrike">
                <a:solidFill>
                  <a:srgbClr val="171717"/>
                </a:solidFill>
                <a:latin typeface="Calibri Light"/>
                <a:ea typeface="Calibri Light"/>
              </a:rPr>
              <a:t>Giữ cùng danh sách đích và mục đang chọn khi đổi cách hiển thị.</a:t>
            </a:r>
            <a:endParaRPr b="0" lang="en-US" sz="21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5" name=""/>
          <p:cNvSpPr/>
          <p:nvPr/>
        </p:nvSpPr>
        <p:spPr>
          <a:xfrm>
            <a:off x="762120" y="380880"/>
            <a:ext cx="106675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3230" spc="-1" strike="noStrike">
                <a:solidFill>
                  <a:srgbClr val="171717"/>
                </a:solidFill>
                <a:latin typeface="Calibri Light"/>
                <a:ea typeface="Calibri Light"/>
              </a:rPr>
              <a:t>4.1. Nguyên tắc cho nhiều kích thước</a:t>
            </a:r>
            <a:endParaRPr b="0" lang="en-US" sz="3230" spc="-1" strike="noStrike">
              <a:solidFill>
                <a:srgbClr val="000000"/>
              </a:solidFill>
              <a:latin typeface="Arial"/>
            </a:endParaRPr>
          </a:p>
        </p:txBody>
      </p:sp>
      <p:sp>
        <p:nvSpPr>
          <p:cNvPr id="106" name=""/>
          <p:cNvSpPr/>
          <p:nvPr/>
        </p:nvSpPr>
        <p:spPr>
          <a:xfrm>
            <a:off x="838080" y="6448320"/>
            <a:ext cx="952452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6e6368"/>
                </a:solidFill>
                <a:latin typeface="Calibri Light"/>
                <a:ea typeface="Calibri Light"/>
              </a:rPr>
              <a:t>Chủ đề 03: Responsive và Adaptive UI trong Flutter</a:t>
            </a:r>
            <a:endParaRPr b="0" lang="en-US" sz="1000" spc="-1" strike="noStrike">
              <a:solidFill>
                <a:srgbClr val="000000"/>
              </a:solidFill>
              <a:latin typeface="Arial"/>
            </a:endParaRPr>
          </a:p>
        </p:txBody>
      </p:sp>
      <p:sp>
        <p:nvSpPr>
          <p:cNvPr id="107" name=""/>
          <p:cNvSpPr/>
          <p:nvPr/>
        </p:nvSpPr>
        <p:spPr>
          <a:xfrm>
            <a:off x="10839600" y="6448320"/>
            <a:ext cx="514080" cy="209160"/>
          </a:xfrm>
          <a:prstGeom prst="rect">
            <a:avLst/>
          </a:prstGeom>
          <a:noFill/>
          <a:ln w="0">
            <a:noFill/>
          </a:ln>
        </p:spPr>
        <p:style>
          <a:lnRef idx="0"/>
          <a:fillRef idx="0"/>
          <a:effectRef idx="0"/>
          <a:fontRef idx="minor"/>
        </p:style>
        <p:txBody>
          <a:bodyPr lIns="0" rIns="0" tIns="0" bIns="0" anchor="t">
            <a:noAutofit/>
          </a:bodyPr>
          <a:p>
            <a:pPr algn="r">
              <a:lnSpc>
                <a:spcPct val="100000"/>
              </a:lnSpc>
            </a:pPr>
            <a:r>
              <a:rPr b="0" lang="en-US" sz="1250" spc="-1" strike="noStrike">
                <a:solidFill>
                  <a:srgbClr val="6e6368"/>
                </a:solidFill>
                <a:latin typeface="Calibri Light"/>
                <a:ea typeface="Calibri Light"/>
              </a:rPr>
              <a:t>14</a:t>
            </a:r>
            <a:endParaRPr b="0" lang="en-US" sz="1250" spc="-1" strike="noStrike">
              <a:solidFill>
                <a:srgbClr val="000000"/>
              </a:solidFill>
              <a:latin typeface="Arial"/>
            </a:endParaRPr>
          </a:p>
        </p:txBody>
      </p:sp>
      <p:sp>
        <p:nvSpPr>
          <p:cNvPr id="108" name=""/>
          <p:cNvSpPr/>
          <p:nvPr/>
        </p:nvSpPr>
        <p:spPr>
          <a:xfrm>
            <a:off x="838080" y="1428840"/>
            <a:ext cx="10515240" cy="4571640"/>
          </a:xfrm>
          <a:prstGeom prst="rect">
            <a:avLst/>
          </a:prstGeom>
          <a:noFill/>
          <a:ln w="0">
            <a:noFill/>
          </a:ln>
        </p:spPr>
        <p:style>
          <a:lnRef idx="0"/>
          <a:fillRef idx="0"/>
          <a:effectRef idx="0"/>
          <a:fontRef idx="minor"/>
        </p:style>
        <p:txBody>
          <a:bodyPr lIns="0" rIns="0" tIns="0" bIns="0" anchor="t">
            <a:noAutofit/>
          </a:bodyPr>
          <a:p>
            <a:pPr marL="228600" indent="-114480">
              <a:lnSpc>
                <a:spcPct val="100000"/>
              </a:lnSpc>
              <a:spcAft>
                <a:spcPts val="1199"/>
              </a:spcAft>
              <a:buClr>
                <a:srgbClr val="171717"/>
              </a:buClr>
              <a:buFont typeface="Symbol" charset="2"/>
              <a:buChar char=""/>
            </a:pPr>
            <a:r>
              <a:rPr b="0" lang="en-US" sz="2400" spc="-1" strike="noStrike">
                <a:solidFill>
                  <a:srgbClr val="171717"/>
                </a:solidFill>
                <a:latin typeface="Calibri Light"/>
                <a:ea typeface="Calibri Light"/>
              </a:rPr>
              <a:t>Đo không gian thực tế và kiểm tra cả khi thay đổi kích thước cửa sổ.</a:t>
            </a:r>
            <a:endParaRPr b="0" lang="en-US" sz="2400" spc="-1" strike="noStrike">
              <a:solidFill>
                <a:srgbClr val="000000"/>
              </a:solidFill>
              <a:latin typeface="Arial"/>
            </a:endParaRPr>
          </a:p>
          <a:p>
            <a:pPr marL="228600" indent="-114480">
              <a:lnSpc>
                <a:spcPct val="100000"/>
              </a:lnSpc>
              <a:spcAft>
                <a:spcPts val="1199"/>
              </a:spcAft>
              <a:buClr>
                <a:srgbClr val="171717"/>
              </a:buClr>
              <a:buFont typeface="Symbol" charset="2"/>
              <a:buChar char=""/>
            </a:pPr>
            <a:r>
              <a:rPr b="0" lang="en-US" sz="2400" spc="-1" strike="noStrike">
                <a:solidFill>
                  <a:srgbClr val="171717"/>
                </a:solidFill>
                <a:latin typeface="Calibri Light"/>
                <a:ea typeface="Calibri Light"/>
              </a:rPr>
              <a:t>Co giãn hợp lý, giới hạn chiều rộng nội dung và cho phép cuộn khi cần.</a:t>
            </a:r>
            <a:endParaRPr b="0" lang="en-US" sz="2400" spc="-1" strike="noStrike">
              <a:solidFill>
                <a:srgbClr val="000000"/>
              </a:solidFill>
              <a:latin typeface="Arial"/>
            </a:endParaRPr>
          </a:p>
          <a:p>
            <a:pPr marL="228600" indent="-114480">
              <a:lnSpc>
                <a:spcPct val="100000"/>
              </a:lnSpc>
              <a:spcAft>
                <a:spcPts val="1199"/>
              </a:spcAft>
              <a:buClr>
                <a:srgbClr val="171717"/>
              </a:buClr>
              <a:buFont typeface="Symbol" charset="2"/>
              <a:buChar char=""/>
            </a:pPr>
            <a:r>
              <a:rPr b="0" lang="en-US" sz="2400" spc="-1" strike="noStrike">
                <a:solidFill>
                  <a:srgbClr val="171717"/>
                </a:solidFill>
                <a:latin typeface="Calibri Light"/>
                <a:ea typeface="Calibri Light"/>
              </a:rPr>
              <a:t>Giữ chữ dễ đọc, khoảng đệm phù hợp, tránh tràn khi tăng cỡ chữ.</a:t>
            </a:r>
            <a:endParaRPr b="0" lang="en-US" sz="2400" spc="-1" strike="noStrike">
              <a:solidFill>
                <a:srgbClr val="000000"/>
              </a:solidFill>
              <a:latin typeface="Arial"/>
            </a:endParaRPr>
          </a:p>
          <a:p>
            <a:pPr marL="228600" indent="-114480">
              <a:lnSpc>
                <a:spcPct val="100000"/>
              </a:lnSpc>
              <a:spcAft>
                <a:spcPts val="1199"/>
              </a:spcAft>
              <a:buClr>
                <a:srgbClr val="171717"/>
              </a:buClr>
              <a:buFont typeface="Symbol" charset="2"/>
              <a:buChar char=""/>
            </a:pPr>
            <a:r>
              <a:rPr b="0" lang="en-US" sz="2400" spc="-1" strike="noStrike">
                <a:solidFill>
                  <a:srgbClr val="171717"/>
                </a:solidFill>
                <a:latin typeface="Calibri Light"/>
                <a:ea typeface="Calibri Light"/>
              </a:rPr>
              <a:t>Giữ trạng thái cần thiết khi chuyển bố cục, như mục đang chọn và dữ liệu nhập.</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9" name=""/>
          <p:cNvSpPr/>
          <p:nvPr/>
        </p:nvSpPr>
        <p:spPr>
          <a:xfrm>
            <a:off x="762120" y="380880"/>
            <a:ext cx="106675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3230" spc="-1" strike="noStrike">
                <a:solidFill>
                  <a:srgbClr val="171717"/>
                </a:solidFill>
                <a:latin typeface="Calibri Light"/>
                <a:ea typeface="Calibri Light"/>
              </a:rPr>
              <a:t>4.2. Nguyên tắc cho phương thức nhập liệu</a:t>
            </a:r>
            <a:endParaRPr b="0" lang="en-US" sz="3230" spc="-1" strike="noStrike">
              <a:solidFill>
                <a:srgbClr val="000000"/>
              </a:solidFill>
              <a:latin typeface="Arial"/>
            </a:endParaRPr>
          </a:p>
        </p:txBody>
      </p:sp>
      <p:sp>
        <p:nvSpPr>
          <p:cNvPr id="110" name=""/>
          <p:cNvSpPr/>
          <p:nvPr/>
        </p:nvSpPr>
        <p:spPr>
          <a:xfrm>
            <a:off x="838080" y="6448320"/>
            <a:ext cx="952452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6e6368"/>
                </a:solidFill>
                <a:latin typeface="Calibri Light"/>
                <a:ea typeface="Calibri Light"/>
              </a:rPr>
              <a:t>Chủ đề 03: Responsive và Adaptive UI trong Flutter</a:t>
            </a:r>
            <a:endParaRPr b="0" lang="en-US" sz="1000" spc="-1" strike="noStrike">
              <a:solidFill>
                <a:srgbClr val="000000"/>
              </a:solidFill>
              <a:latin typeface="Arial"/>
            </a:endParaRPr>
          </a:p>
        </p:txBody>
      </p:sp>
      <p:sp>
        <p:nvSpPr>
          <p:cNvPr id="111" name=""/>
          <p:cNvSpPr/>
          <p:nvPr/>
        </p:nvSpPr>
        <p:spPr>
          <a:xfrm>
            <a:off x="10839600" y="6448320"/>
            <a:ext cx="514080" cy="209160"/>
          </a:xfrm>
          <a:prstGeom prst="rect">
            <a:avLst/>
          </a:prstGeom>
          <a:noFill/>
          <a:ln w="0">
            <a:noFill/>
          </a:ln>
        </p:spPr>
        <p:style>
          <a:lnRef idx="0"/>
          <a:fillRef idx="0"/>
          <a:effectRef idx="0"/>
          <a:fontRef idx="minor"/>
        </p:style>
        <p:txBody>
          <a:bodyPr lIns="0" rIns="0" tIns="0" bIns="0" anchor="t">
            <a:noAutofit/>
          </a:bodyPr>
          <a:p>
            <a:pPr algn="r">
              <a:lnSpc>
                <a:spcPct val="100000"/>
              </a:lnSpc>
            </a:pPr>
            <a:r>
              <a:rPr b="0" lang="en-US" sz="1250" spc="-1" strike="noStrike">
                <a:solidFill>
                  <a:srgbClr val="6e6368"/>
                </a:solidFill>
                <a:latin typeface="Calibri Light"/>
                <a:ea typeface="Calibri Light"/>
              </a:rPr>
              <a:t>15</a:t>
            </a:r>
            <a:endParaRPr b="0" lang="en-US" sz="1250" spc="-1" strike="noStrike">
              <a:solidFill>
                <a:srgbClr val="000000"/>
              </a:solidFill>
              <a:latin typeface="Arial"/>
            </a:endParaRPr>
          </a:p>
        </p:txBody>
      </p:sp>
      <p:graphicFrame>
        <p:nvGraphicFramePr>
          <p:cNvPr id="112" name=""/>
          <p:cNvGraphicFramePr/>
          <p:nvPr/>
        </p:nvGraphicFramePr>
        <p:xfrm>
          <a:off x="838080" y="1467000"/>
          <a:ext cx="10515240" cy="3828600"/>
        </p:xfrm>
        <a:graphic>
          <a:graphicData uri="http://schemas.openxmlformats.org/drawingml/2006/table">
            <a:tbl>
              <a:tblPr/>
              <a:tblGrid>
                <a:gridCol w="2095200"/>
                <a:gridCol w="3143160"/>
                <a:gridCol w="5276520"/>
              </a:tblGrid>
              <a:tr h="628560">
                <a:tc>
                  <a:txBody>
                    <a:bodyPr anchor="ctr">
                      <a:noAutofit/>
                    </a:bodyPr>
                    <a:p>
                      <a:pPr>
                        <a:lnSpc>
                          <a:spcPct val="100000"/>
                        </a:lnSpc>
                      </a:pPr>
                      <a:r>
                        <a:rPr b="1" lang="en-US" sz="2100" spc="-1" strike="noStrike">
                          <a:solidFill>
                            <a:srgbClr val="ffffff"/>
                          </a:solidFill>
                          <a:latin typeface="Calibri Light"/>
                          <a:ea typeface="Calibri Light"/>
                        </a:rPr>
                        <a:t>NHẬP LIỆU</a:t>
                      </a:r>
                      <a:endParaRPr b="0" lang="en-US" sz="2100" spc="-1" strike="noStrike">
                        <a:solidFill>
                          <a:srgbClr val="ffffff"/>
                        </a:solidFill>
                        <a:latin typeface="Arial"/>
                      </a:endParaRPr>
                    </a:p>
                  </a:txBody>
                  <a:tcPr anchor="ctr" marL="91440" marR="91440">
                    <a:lnL w="14400">
                      <a:solidFill>
                        <a:srgbClr val="ffffff"/>
                      </a:solidFill>
                      <a:prstDash val="solid"/>
                    </a:lnL>
                    <a:lnR w="14400">
                      <a:solidFill>
                        <a:srgbClr val="ffffff"/>
                      </a:solidFill>
                      <a:prstDash val="solid"/>
                    </a:lnR>
                    <a:lnT w="14400">
                      <a:solidFill>
                        <a:srgbClr val="ffffff"/>
                      </a:solidFill>
                      <a:prstDash val="solid"/>
                    </a:lnT>
                    <a:lnB w="14400">
                      <a:solidFill>
                        <a:srgbClr val="ffffff"/>
                      </a:solidFill>
                      <a:prstDash val="solid"/>
                    </a:lnB>
                    <a:solidFill>
                      <a:srgbClr val="4472c4"/>
                    </a:solidFill>
                  </a:tcPr>
                </a:tc>
                <a:tc>
                  <a:txBody>
                    <a:bodyPr anchor="ctr">
                      <a:noAutofit/>
                    </a:bodyPr>
                    <a:p>
                      <a:pPr>
                        <a:lnSpc>
                          <a:spcPct val="100000"/>
                        </a:lnSpc>
                      </a:pPr>
                      <a:r>
                        <a:rPr b="1" lang="en-US" sz="2100" spc="-1" strike="noStrike">
                          <a:solidFill>
                            <a:srgbClr val="ffffff"/>
                          </a:solidFill>
                          <a:latin typeface="Calibri Light"/>
                          <a:ea typeface="Calibri Light"/>
                        </a:rPr>
                        <a:t>THAO TÁC</a:t>
                      </a:r>
                      <a:endParaRPr b="0" lang="en-US" sz="2100" spc="-1" strike="noStrike">
                        <a:solidFill>
                          <a:srgbClr val="ffffff"/>
                        </a:solidFill>
                        <a:latin typeface="Arial"/>
                      </a:endParaRPr>
                    </a:p>
                  </a:txBody>
                  <a:tcPr anchor="ctr" marL="91440" marR="91440">
                    <a:lnL w="12240">
                      <a:solidFill>
                        <a:srgbClr val="000000"/>
                      </a:solidFill>
                      <a:prstDash val="solid"/>
                    </a:lnL>
                    <a:lnR w="14400">
                      <a:solidFill>
                        <a:srgbClr val="ffffff"/>
                      </a:solidFill>
                      <a:prstDash val="solid"/>
                    </a:lnR>
                    <a:lnT w="14400">
                      <a:solidFill>
                        <a:srgbClr val="ffffff"/>
                      </a:solidFill>
                      <a:prstDash val="solid"/>
                    </a:lnT>
                    <a:lnB w="14400">
                      <a:solidFill>
                        <a:srgbClr val="ffffff"/>
                      </a:solidFill>
                      <a:prstDash val="solid"/>
                    </a:lnB>
                    <a:solidFill>
                      <a:srgbClr val="4472c4"/>
                    </a:solidFill>
                  </a:tcPr>
                </a:tc>
                <a:tc>
                  <a:txBody>
                    <a:bodyPr anchor="ctr">
                      <a:noAutofit/>
                    </a:bodyPr>
                    <a:p>
                      <a:pPr>
                        <a:lnSpc>
                          <a:spcPct val="100000"/>
                        </a:lnSpc>
                      </a:pPr>
                      <a:r>
                        <a:rPr b="1" lang="en-US" sz="2100" spc="-1" strike="noStrike">
                          <a:solidFill>
                            <a:srgbClr val="ffffff"/>
                          </a:solidFill>
                          <a:latin typeface="Calibri Light"/>
                          <a:ea typeface="Calibri Light"/>
                        </a:rPr>
                        <a:t>NGUYÊN TẮC UI</a:t>
                      </a:r>
                      <a:endParaRPr b="0" lang="en-US" sz="2100" spc="-1" strike="noStrike">
                        <a:solidFill>
                          <a:srgbClr val="ffffff"/>
                        </a:solidFill>
                        <a:latin typeface="Arial"/>
                      </a:endParaRPr>
                    </a:p>
                  </a:txBody>
                  <a:tcPr anchor="ctr" marL="91440" marR="91440">
                    <a:lnL w="12240">
                      <a:solidFill>
                        <a:srgbClr val="000000"/>
                      </a:solidFill>
                      <a:prstDash val="solid"/>
                    </a:lnL>
                    <a:lnR w="14400">
                      <a:solidFill>
                        <a:srgbClr val="ffffff"/>
                      </a:solidFill>
                      <a:prstDash val="solid"/>
                    </a:lnR>
                    <a:lnT w="14400">
                      <a:solidFill>
                        <a:srgbClr val="ffffff"/>
                      </a:solidFill>
                      <a:prstDash val="solid"/>
                    </a:lnT>
                    <a:lnB w="14400">
                      <a:solidFill>
                        <a:srgbClr val="ffffff"/>
                      </a:solidFill>
                      <a:prstDash val="solid"/>
                    </a:lnB>
                    <a:solidFill>
                      <a:srgbClr val="4472c4"/>
                    </a:solidFill>
                  </a:tcPr>
                </a:tc>
              </a:tr>
              <a:tr h="1066680">
                <a:tc>
                  <a:txBody>
                    <a:bodyPr anchor="ctr">
                      <a:noAutofit/>
                    </a:bodyPr>
                    <a:p>
                      <a:pPr>
                        <a:lnSpc>
                          <a:spcPct val="100000"/>
                        </a:lnSpc>
                      </a:pPr>
                      <a:r>
                        <a:rPr b="0" lang="en-US" sz="2100" spc="-1" strike="noStrike">
                          <a:solidFill>
                            <a:srgbClr val="171717"/>
                          </a:solidFill>
                          <a:latin typeface="Calibri Light"/>
                          <a:ea typeface="Calibri Light"/>
                        </a:rPr>
                        <a:t>Cảm ứng</a:t>
                      </a:r>
                      <a:endParaRPr b="0" lang="en-US" sz="210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00" spc="-1" strike="noStrike">
                          <a:solidFill>
                            <a:srgbClr val="171717"/>
                          </a:solidFill>
                          <a:latin typeface="Calibri Light"/>
                          <a:ea typeface="Calibri Light"/>
                        </a:rPr>
                        <a:t>Chạm, vuốt</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00" spc="-1" strike="noStrike">
                          <a:solidFill>
                            <a:srgbClr val="171717"/>
                          </a:solidFill>
                          <a:latin typeface="Calibri Light"/>
                          <a:ea typeface="Calibri Light"/>
                        </a:rPr>
                        <a:t>Vùng chạm dễ dùng,</a:t>
                      </a:r>
                      <a:endParaRPr b="0" lang="en-US" sz="2100" spc="-1" strike="noStrike">
                        <a:solidFill>
                          <a:srgbClr val="000000"/>
                        </a:solidFill>
                        <a:latin typeface="Arial"/>
                      </a:endParaRPr>
                    </a:p>
                    <a:p>
                      <a:pPr>
                        <a:lnSpc>
                          <a:spcPct val="100000"/>
                        </a:lnSpc>
                      </a:pPr>
                      <a:r>
                        <a:rPr b="0" lang="en-US" sz="2100" spc="-1" strike="noStrike">
                          <a:solidFill>
                            <a:srgbClr val="171717"/>
                          </a:solidFill>
                          <a:latin typeface="Calibri Light"/>
                          <a:ea typeface="Calibri Light"/>
                        </a:rPr>
                        <a:t>khoảng cách hợp lý</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r>
              <a:tr h="1066680">
                <a:tc>
                  <a:txBody>
                    <a:bodyPr anchor="ctr">
                      <a:noAutofit/>
                    </a:bodyPr>
                    <a:p>
                      <a:pPr>
                        <a:lnSpc>
                          <a:spcPct val="100000"/>
                        </a:lnSpc>
                      </a:pPr>
                      <a:r>
                        <a:rPr b="0" lang="en-US" sz="2100" spc="-1" strike="noStrike">
                          <a:solidFill>
                            <a:srgbClr val="171717"/>
                          </a:solidFill>
                          <a:latin typeface="Calibri Light"/>
                          <a:ea typeface="Calibri Light"/>
                        </a:rPr>
                        <a:t>Chuột</a:t>
                      </a:r>
                      <a:endParaRPr b="0" lang="en-US" sz="210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e9ecf5"/>
                    </a:solidFill>
                  </a:tcPr>
                </a:tc>
                <a:tc>
                  <a:txBody>
                    <a:bodyPr anchor="ctr">
                      <a:noAutofit/>
                    </a:bodyPr>
                    <a:p>
                      <a:pPr>
                        <a:lnSpc>
                          <a:spcPct val="100000"/>
                        </a:lnSpc>
                      </a:pPr>
                      <a:r>
                        <a:rPr b="0" lang="en-US" sz="2100" spc="-1" strike="noStrike">
                          <a:solidFill>
                            <a:srgbClr val="171717"/>
                          </a:solidFill>
                          <a:latin typeface="Calibri Light"/>
                          <a:ea typeface="Calibri Light"/>
                        </a:rPr>
                        <a:t>Trỏ, bấm, cuộn</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e9ecf5"/>
                    </a:solidFill>
                  </a:tcPr>
                </a:tc>
                <a:tc>
                  <a:txBody>
                    <a:bodyPr anchor="ctr">
                      <a:noAutofit/>
                    </a:bodyPr>
                    <a:p>
                      <a:pPr>
                        <a:lnSpc>
                          <a:spcPct val="100000"/>
                        </a:lnSpc>
                      </a:pPr>
                      <a:r>
                        <a:rPr b="0" lang="en-US" sz="2100" spc="-1" strike="noStrike">
                          <a:solidFill>
                            <a:srgbClr val="171717"/>
                          </a:solidFill>
                          <a:latin typeface="Calibri Light"/>
                          <a:ea typeface="Calibri Light"/>
                        </a:rPr>
                        <a:t>Phản hồi hover, cuộn</a:t>
                      </a:r>
                      <a:endParaRPr b="0" lang="en-US" sz="2100" spc="-1" strike="noStrike">
                        <a:solidFill>
                          <a:srgbClr val="000000"/>
                        </a:solidFill>
                        <a:latin typeface="Arial"/>
                      </a:endParaRPr>
                    </a:p>
                    <a:p>
                      <a:pPr>
                        <a:lnSpc>
                          <a:spcPct val="100000"/>
                        </a:lnSpc>
                      </a:pPr>
                      <a:r>
                        <a:rPr b="0" lang="en-US" sz="2100" spc="-1" strike="noStrike">
                          <a:solidFill>
                            <a:srgbClr val="171717"/>
                          </a:solidFill>
                          <a:latin typeface="Calibri Light"/>
                          <a:ea typeface="Calibri Light"/>
                        </a:rPr>
                        <a:t>và tooltip khi phù hợp</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e9ecf5"/>
                    </a:solidFill>
                  </a:tcPr>
                </a:tc>
              </a:tr>
              <a:tr h="1066680">
                <a:tc>
                  <a:txBody>
                    <a:bodyPr anchor="ctr">
                      <a:noAutofit/>
                    </a:bodyPr>
                    <a:p>
                      <a:pPr>
                        <a:lnSpc>
                          <a:spcPct val="100000"/>
                        </a:lnSpc>
                      </a:pPr>
                      <a:r>
                        <a:rPr b="0" lang="en-US" sz="2100" spc="-1" strike="noStrike">
                          <a:solidFill>
                            <a:srgbClr val="171717"/>
                          </a:solidFill>
                          <a:latin typeface="Calibri Light"/>
                          <a:ea typeface="Calibri Light"/>
                        </a:rPr>
                        <a:t>Bàn phím</a:t>
                      </a:r>
                      <a:endParaRPr b="0" lang="en-US" sz="2100" spc="-1" strike="noStrike">
                        <a:solidFill>
                          <a:srgbClr val="000000"/>
                        </a:solidFill>
                        <a:latin typeface="Arial"/>
                      </a:endParaRPr>
                    </a:p>
                  </a:txBody>
                  <a:tcPr anchor="ctr" marL="91440" marR="91440">
                    <a:lnL w="14400">
                      <a:solidFill>
                        <a:srgbClr val="ffffff"/>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00" spc="-1" strike="noStrike">
                          <a:solidFill>
                            <a:srgbClr val="171717"/>
                          </a:solidFill>
                          <a:latin typeface="Calibri Light"/>
                          <a:ea typeface="Calibri Light"/>
                        </a:rPr>
                        <a:t>Tab, Enter, Space</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c>
                  <a:txBody>
                    <a:bodyPr anchor="ctr">
                      <a:noAutofit/>
                    </a:bodyPr>
                    <a:p>
                      <a:pPr>
                        <a:lnSpc>
                          <a:spcPct val="100000"/>
                        </a:lnSpc>
                      </a:pPr>
                      <a:r>
                        <a:rPr b="0" lang="en-US" sz="2100" spc="-1" strike="noStrike">
                          <a:solidFill>
                            <a:srgbClr val="171717"/>
                          </a:solidFill>
                          <a:latin typeface="Calibri Light"/>
                          <a:ea typeface="Calibri Light"/>
                        </a:rPr>
                        <a:t>Thứ tự focus rõ ràng,</a:t>
                      </a:r>
                      <a:endParaRPr b="0" lang="en-US" sz="2100" spc="-1" strike="noStrike">
                        <a:solidFill>
                          <a:srgbClr val="000000"/>
                        </a:solidFill>
                        <a:latin typeface="Arial"/>
                      </a:endParaRPr>
                    </a:p>
                    <a:p>
                      <a:pPr>
                        <a:lnSpc>
                          <a:spcPct val="100000"/>
                        </a:lnSpc>
                      </a:pPr>
                      <a:r>
                        <a:rPr b="0" lang="en-US" sz="2100" spc="-1" strike="noStrike">
                          <a:solidFill>
                            <a:srgbClr val="171717"/>
                          </a:solidFill>
                          <a:latin typeface="Calibri Light"/>
                          <a:ea typeface="Calibri Light"/>
                        </a:rPr>
                        <a:t>điều khiển bằng bàn phím</a:t>
                      </a:r>
                      <a:endParaRPr b="0" lang="en-US" sz="2100" spc="-1" strike="noStrike">
                        <a:solidFill>
                          <a:srgbClr val="000000"/>
                        </a:solidFill>
                        <a:latin typeface="Arial"/>
                      </a:endParaRPr>
                    </a:p>
                  </a:txBody>
                  <a:tcPr anchor="ctr" marL="91440" marR="91440">
                    <a:lnL w="12240">
                      <a:solidFill>
                        <a:srgbClr val="000000"/>
                      </a:solidFill>
                      <a:prstDash val="solid"/>
                    </a:lnL>
                    <a:lnR w="14400">
                      <a:solidFill>
                        <a:srgbClr val="ffffff"/>
                      </a:solidFill>
                      <a:prstDash val="solid"/>
                    </a:lnR>
                    <a:lnT w="12240">
                      <a:solidFill>
                        <a:srgbClr val="000000"/>
                      </a:solidFill>
                      <a:prstDash val="solid"/>
                    </a:lnT>
                    <a:lnB w="14400">
                      <a:solidFill>
                        <a:srgbClr val="ffffff"/>
                      </a:solidFill>
                      <a:prstDash val="solid"/>
                    </a:lnB>
                    <a:solidFill>
                      <a:srgbClr val="d1d8eb"/>
                    </a:solidFill>
                  </a:tcPr>
                </a:tc>
              </a:tr>
            </a:tbl>
          </a:graphicData>
        </a:graphic>
      </p:graphicFrame>
      <p:sp>
        <p:nvSpPr>
          <p:cNvPr id="113" name=""/>
          <p:cNvSpPr/>
          <p:nvPr/>
        </p:nvSpPr>
        <p:spPr>
          <a:xfrm>
            <a:off x="838080" y="5638680"/>
            <a:ext cx="10515240" cy="6760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170" spc="-1" strike="noStrike">
                <a:solidFill>
                  <a:srgbClr val="171717"/>
                </a:solidFill>
                <a:latin typeface="Calibri Light"/>
                <a:ea typeface="Calibri Light"/>
              </a:rPr>
              <a:t>Widget Material hỗ trợ sẵn nhiều tương tác.</a:t>
            </a:r>
            <a:endParaRPr b="0" lang="en-US" sz="2170" spc="-1" strike="noStrike">
              <a:solidFill>
                <a:srgbClr val="000000"/>
              </a:solidFill>
              <a:latin typeface="Arial"/>
            </a:endParaRPr>
          </a:p>
          <a:p>
            <a:pPr>
              <a:lnSpc>
                <a:spcPct val="100000"/>
              </a:lnSpc>
            </a:pPr>
            <a:r>
              <a:rPr b="0" lang="en-US" sz="2170" spc="-1" strike="noStrike">
                <a:solidFill>
                  <a:srgbClr val="171717"/>
                </a:solidFill>
                <a:latin typeface="Calibri Light"/>
                <a:ea typeface="Calibri Light"/>
              </a:rPr>
              <a:t>Widget tùy biến cần kiểm tra khả năng thao tác bổ sung.</a:t>
            </a:r>
            <a:endParaRPr b="0" lang="en-US" sz="21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4" name=""/>
          <p:cNvSpPr/>
          <p:nvPr/>
        </p:nvSpPr>
        <p:spPr>
          <a:xfrm>
            <a:off x="762120" y="380880"/>
            <a:ext cx="10667520" cy="6282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3230" spc="-1" strike="noStrike">
                <a:solidFill>
                  <a:srgbClr val="171717"/>
                </a:solidFill>
                <a:latin typeface="Calibri Light"/>
                <a:ea typeface="Calibri Light"/>
              </a:rPr>
              <a:t>Tài liệu tham khảo</a:t>
            </a:r>
            <a:endParaRPr b="0" lang="en-US" sz="3230" spc="-1" strike="noStrike">
              <a:solidFill>
                <a:srgbClr val="000000"/>
              </a:solidFill>
              <a:latin typeface="Arial"/>
            </a:endParaRPr>
          </a:p>
        </p:txBody>
      </p:sp>
      <p:sp>
        <p:nvSpPr>
          <p:cNvPr id="115" name=""/>
          <p:cNvSpPr/>
          <p:nvPr/>
        </p:nvSpPr>
        <p:spPr>
          <a:xfrm>
            <a:off x="838080" y="6448320"/>
            <a:ext cx="9524520" cy="2091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6e6368"/>
                </a:solidFill>
                <a:latin typeface="Calibri Light"/>
                <a:ea typeface="Calibri Light"/>
              </a:rPr>
              <a:t>Chủ đề 03: Responsive và Adaptive UI trong Flutter</a:t>
            </a:r>
            <a:endParaRPr b="0" lang="en-US" sz="1000" spc="-1" strike="noStrike">
              <a:solidFill>
                <a:srgbClr val="000000"/>
              </a:solidFill>
              <a:latin typeface="Arial"/>
            </a:endParaRPr>
          </a:p>
        </p:txBody>
      </p:sp>
      <p:sp>
        <p:nvSpPr>
          <p:cNvPr id="116" name=""/>
          <p:cNvSpPr/>
          <p:nvPr/>
        </p:nvSpPr>
        <p:spPr>
          <a:xfrm>
            <a:off x="10839600" y="6448320"/>
            <a:ext cx="514080" cy="209160"/>
          </a:xfrm>
          <a:prstGeom prst="rect">
            <a:avLst/>
          </a:prstGeom>
          <a:noFill/>
          <a:ln w="0">
            <a:noFill/>
          </a:ln>
        </p:spPr>
        <p:style>
          <a:lnRef idx="0"/>
          <a:fillRef idx="0"/>
          <a:effectRef idx="0"/>
          <a:fontRef idx="minor"/>
        </p:style>
        <p:txBody>
          <a:bodyPr lIns="0" rIns="0" tIns="0" bIns="0" anchor="t">
            <a:noAutofit/>
          </a:bodyPr>
          <a:p>
            <a:pPr algn="r">
              <a:lnSpc>
                <a:spcPct val="100000"/>
              </a:lnSpc>
            </a:pPr>
            <a:r>
              <a:rPr b="0" lang="en-US" sz="1250" spc="-1" strike="noStrike">
                <a:solidFill>
                  <a:srgbClr val="6e6368"/>
                </a:solidFill>
                <a:latin typeface="Calibri Light"/>
                <a:ea typeface="Calibri Light"/>
              </a:rPr>
              <a:t>16</a:t>
            </a:r>
            <a:endParaRPr b="0" lang="en-US" sz="1250" spc="-1" strike="noStrike">
              <a:solidFill>
                <a:srgbClr val="000000"/>
              </a:solidFill>
              <a:latin typeface="Arial"/>
            </a:endParaRPr>
          </a:p>
        </p:txBody>
      </p:sp>
      <p:sp>
        <p:nvSpPr>
          <p:cNvPr id="117" name=""/>
          <p:cNvSpPr/>
          <p:nvPr/>
        </p:nvSpPr>
        <p:spPr>
          <a:xfrm>
            <a:off x="838080" y="1486080"/>
            <a:ext cx="552240" cy="399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70" spc="-1" strike="noStrike">
                <a:solidFill>
                  <a:srgbClr val="4472c4"/>
                </a:solidFill>
                <a:latin typeface="Calibri Light"/>
                <a:ea typeface="Calibri Light"/>
              </a:rPr>
              <a:t>01</a:t>
            </a:r>
            <a:endParaRPr b="0" lang="en-US" sz="1870" spc="-1" strike="noStrike">
              <a:solidFill>
                <a:srgbClr val="000000"/>
              </a:solidFill>
              <a:latin typeface="Arial"/>
            </a:endParaRPr>
          </a:p>
        </p:txBody>
      </p:sp>
      <p:sp>
        <p:nvSpPr>
          <p:cNvPr id="118" name=""/>
          <p:cNvSpPr/>
          <p:nvPr/>
        </p:nvSpPr>
        <p:spPr>
          <a:xfrm>
            <a:off x="1600200" y="1447920"/>
            <a:ext cx="9753120" cy="418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250" spc="-1" strike="noStrike">
                <a:solidFill>
                  <a:srgbClr val="171717"/>
                </a:solidFill>
                <a:latin typeface="Calibri Light"/>
                <a:ea typeface="Calibri Light"/>
              </a:rPr>
              <a:t>Khái niệm Responsive và Adaptive</a:t>
            </a:r>
            <a:endParaRPr b="0" lang="en-US" sz="2250" spc="-1" strike="noStrike">
              <a:solidFill>
                <a:srgbClr val="000000"/>
              </a:solidFill>
              <a:latin typeface="Arial"/>
            </a:endParaRPr>
          </a:p>
        </p:txBody>
      </p:sp>
      <p:sp>
        <p:nvSpPr>
          <p:cNvPr id="119" name=""/>
          <p:cNvSpPr/>
          <p:nvPr/>
        </p:nvSpPr>
        <p:spPr>
          <a:xfrm>
            <a:off x="1600200" y="1905120"/>
            <a:ext cx="975312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u="sng">
                <a:solidFill>
                  <a:srgbClr val="467886"/>
                </a:solidFill>
                <a:uFillTx/>
                <a:latin typeface="Calibri Light"/>
                <a:ea typeface="Calibri Light"/>
                <a:hlinkClick r:id="rId1"/>
              </a:rPr>
              <a:t>https://docs.flutter.dev/ui/adaptive-responsive</a:t>
            </a:r>
            <a:endParaRPr b="0" lang="en-US" sz="1800" spc="-1" strike="noStrike">
              <a:solidFill>
                <a:srgbClr val="000000"/>
              </a:solidFill>
              <a:latin typeface="Arial"/>
            </a:endParaRPr>
          </a:p>
        </p:txBody>
      </p:sp>
      <p:sp>
        <p:nvSpPr>
          <p:cNvPr id="120" name=""/>
          <p:cNvSpPr/>
          <p:nvPr/>
        </p:nvSpPr>
        <p:spPr>
          <a:xfrm>
            <a:off x="838080" y="2629080"/>
            <a:ext cx="552240" cy="399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70" spc="-1" strike="noStrike">
                <a:solidFill>
                  <a:srgbClr val="4472c4"/>
                </a:solidFill>
                <a:latin typeface="Calibri Light"/>
                <a:ea typeface="Calibri Light"/>
              </a:rPr>
              <a:t>02</a:t>
            </a:r>
            <a:endParaRPr b="0" lang="en-US" sz="1870" spc="-1" strike="noStrike">
              <a:solidFill>
                <a:srgbClr val="000000"/>
              </a:solidFill>
              <a:latin typeface="Arial"/>
            </a:endParaRPr>
          </a:p>
        </p:txBody>
      </p:sp>
      <p:sp>
        <p:nvSpPr>
          <p:cNvPr id="121" name=""/>
          <p:cNvSpPr/>
          <p:nvPr/>
        </p:nvSpPr>
        <p:spPr>
          <a:xfrm>
            <a:off x="1600200" y="2590920"/>
            <a:ext cx="9753120" cy="418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250" spc="-1" strike="noStrike">
                <a:solidFill>
                  <a:srgbClr val="171717"/>
                </a:solidFill>
                <a:latin typeface="Calibri Light"/>
                <a:ea typeface="Calibri Light"/>
              </a:rPr>
              <a:t>MediaQuery, LayoutBuilder và breakpoint</a:t>
            </a:r>
            <a:endParaRPr b="0" lang="en-US" sz="2250" spc="-1" strike="noStrike">
              <a:solidFill>
                <a:srgbClr val="000000"/>
              </a:solidFill>
              <a:latin typeface="Arial"/>
            </a:endParaRPr>
          </a:p>
        </p:txBody>
      </p:sp>
      <p:sp>
        <p:nvSpPr>
          <p:cNvPr id="122" name=""/>
          <p:cNvSpPr/>
          <p:nvPr/>
        </p:nvSpPr>
        <p:spPr>
          <a:xfrm>
            <a:off x="1600200" y="3048120"/>
            <a:ext cx="975312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u="sng">
                <a:solidFill>
                  <a:srgbClr val="467886"/>
                </a:solidFill>
                <a:uFillTx/>
                <a:latin typeface="Calibri Light"/>
                <a:ea typeface="Calibri Light"/>
                <a:hlinkClick r:id="rId2"/>
              </a:rPr>
              <a:t>https://docs.flutter.dev/ui/adaptive-responsive/general</a:t>
            </a:r>
            <a:endParaRPr b="0" lang="en-US" sz="1800" spc="-1" strike="noStrike">
              <a:solidFill>
                <a:srgbClr val="000000"/>
              </a:solidFill>
              <a:latin typeface="Arial"/>
            </a:endParaRPr>
          </a:p>
        </p:txBody>
      </p:sp>
      <p:sp>
        <p:nvSpPr>
          <p:cNvPr id="123" name=""/>
          <p:cNvSpPr/>
          <p:nvPr/>
        </p:nvSpPr>
        <p:spPr>
          <a:xfrm>
            <a:off x="838080" y="3772080"/>
            <a:ext cx="552240" cy="399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70" spc="-1" strike="noStrike">
                <a:solidFill>
                  <a:srgbClr val="4472c4"/>
                </a:solidFill>
                <a:latin typeface="Calibri Light"/>
                <a:ea typeface="Calibri Light"/>
              </a:rPr>
              <a:t>03</a:t>
            </a:r>
            <a:endParaRPr b="0" lang="en-US" sz="1870" spc="-1" strike="noStrike">
              <a:solidFill>
                <a:srgbClr val="000000"/>
              </a:solidFill>
              <a:latin typeface="Arial"/>
            </a:endParaRPr>
          </a:p>
        </p:txBody>
      </p:sp>
      <p:sp>
        <p:nvSpPr>
          <p:cNvPr id="124" name=""/>
          <p:cNvSpPr/>
          <p:nvPr/>
        </p:nvSpPr>
        <p:spPr>
          <a:xfrm>
            <a:off x="1600200" y="3733920"/>
            <a:ext cx="9753120" cy="418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250" spc="-1" strike="noStrike">
                <a:solidFill>
                  <a:srgbClr val="171717"/>
                </a:solidFill>
                <a:latin typeface="Calibri Light"/>
                <a:ea typeface="Calibri Light"/>
              </a:rPr>
              <a:t>Nhập liệu và khả năng tiếp cận</a:t>
            </a:r>
            <a:endParaRPr b="0" lang="en-US" sz="2250" spc="-1" strike="noStrike">
              <a:solidFill>
                <a:srgbClr val="000000"/>
              </a:solidFill>
              <a:latin typeface="Arial"/>
            </a:endParaRPr>
          </a:p>
        </p:txBody>
      </p:sp>
      <p:sp>
        <p:nvSpPr>
          <p:cNvPr id="125" name=""/>
          <p:cNvSpPr/>
          <p:nvPr/>
        </p:nvSpPr>
        <p:spPr>
          <a:xfrm>
            <a:off x="1600200" y="4191120"/>
            <a:ext cx="975312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u="sng">
                <a:solidFill>
                  <a:srgbClr val="467886"/>
                </a:solidFill>
                <a:uFillTx/>
                <a:latin typeface="Calibri Light"/>
                <a:ea typeface="Calibri Light"/>
                <a:hlinkClick r:id="rId3"/>
              </a:rPr>
              <a:t>https://docs.flutter.dev/ui/adaptive-responsive/input</a:t>
            </a:r>
            <a:endParaRPr b="0" lang="en-US" sz="1800" spc="-1" strike="noStrike">
              <a:solidFill>
                <a:srgbClr val="000000"/>
              </a:solidFill>
              <a:latin typeface="Arial"/>
            </a:endParaRPr>
          </a:p>
        </p:txBody>
      </p:sp>
      <p:sp>
        <p:nvSpPr>
          <p:cNvPr id="126" name=""/>
          <p:cNvSpPr/>
          <p:nvPr/>
        </p:nvSpPr>
        <p:spPr>
          <a:xfrm>
            <a:off x="838080" y="4915080"/>
            <a:ext cx="552240" cy="399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70" spc="-1" strike="noStrike">
                <a:solidFill>
                  <a:srgbClr val="4472c4"/>
                </a:solidFill>
                <a:latin typeface="Calibri Light"/>
                <a:ea typeface="Calibri Light"/>
              </a:rPr>
              <a:t>04</a:t>
            </a:r>
            <a:endParaRPr b="0" lang="en-US" sz="1870" spc="-1" strike="noStrike">
              <a:solidFill>
                <a:srgbClr val="000000"/>
              </a:solidFill>
              <a:latin typeface="Arial"/>
            </a:endParaRPr>
          </a:p>
        </p:txBody>
      </p:sp>
      <p:sp>
        <p:nvSpPr>
          <p:cNvPr id="127" name=""/>
          <p:cNvSpPr/>
          <p:nvPr/>
        </p:nvSpPr>
        <p:spPr>
          <a:xfrm>
            <a:off x="1600200" y="4876920"/>
            <a:ext cx="9753120" cy="418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2250" spc="-1" strike="noStrike">
                <a:solidFill>
                  <a:srgbClr val="171717"/>
                </a:solidFill>
                <a:latin typeface="Calibri Light"/>
                <a:ea typeface="Calibri Light"/>
              </a:rPr>
              <a:t>Nguyên tắc thiết kế adaptive</a:t>
            </a:r>
            <a:endParaRPr b="0" lang="en-US" sz="2250" spc="-1" strike="noStrike">
              <a:solidFill>
                <a:srgbClr val="000000"/>
              </a:solidFill>
              <a:latin typeface="Arial"/>
            </a:endParaRPr>
          </a:p>
        </p:txBody>
      </p:sp>
      <p:sp>
        <p:nvSpPr>
          <p:cNvPr id="128" name=""/>
          <p:cNvSpPr/>
          <p:nvPr/>
        </p:nvSpPr>
        <p:spPr>
          <a:xfrm>
            <a:off x="1600200" y="5334120"/>
            <a:ext cx="9753120" cy="38052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u="sng">
                <a:solidFill>
                  <a:srgbClr val="467886"/>
                </a:solidFill>
                <a:uFillTx/>
                <a:latin typeface="Calibri Light"/>
                <a:ea typeface="Calibri Light"/>
                <a:hlinkClick r:id="rId4"/>
              </a:rPr>
              <a:t>https://docs.flutter.dev/ui/adaptive-responsive/best-practices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pitchFamily="0" charset="1"/>
        <a:ea typeface=""/>
        <a:cs typeface=""/>
      </a:majorFont>
      <a:minorFont>
        <a:latin typeface="Aptos"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pitchFamily="0" charset="1"/>
        <a:ea typeface=""/>
        <a:cs typeface=""/>
      </a:majorFont>
      <a:minorFont>
        <a:latin typeface="Aptos"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pitchFamily="0" charset="1"/>
        <a:ea typeface=""/>
        <a:cs typeface=""/>
      </a:majorFont>
      <a:minorFont>
        <a:latin typeface="Aptos"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pitchFamily="0" charset="1"/>
        <a:ea typeface=""/>
        <a:cs typeface=""/>
      </a:majorFont>
      <a:minorFont>
        <a:latin typeface="Aptos"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pitchFamily="0" charset="1"/>
        <a:ea typeface=""/>
        <a:cs typeface=""/>
      </a:majorFont>
      <a:minorFont>
        <a:latin typeface="Aptos"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pitchFamily="0" charset="1"/>
        <a:ea typeface=""/>
        <a:cs typeface=""/>
      </a:majorFont>
      <a:minorFont>
        <a:latin typeface="Aptos"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2026-11-01T01:18:33Z</dcterms:created>
  <dc:creator>Walnut Exporter</dc:creator>
  <dc:description/>
  <dc:language>en-US</dc:language>
  <cp:lastModifiedBy/>
  <dcterms:modified xsi:type="dcterms:W3CDTF">2026-11-01T08:25:33Z</dcterms:modified>
  <cp:revision>1</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